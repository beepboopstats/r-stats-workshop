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5"/>
  </p:notesMasterIdLst>
  <p:sldIdLst>
    <p:sldId id="259" r:id="rId2"/>
    <p:sldId id="260" r:id="rId3"/>
    <p:sldId id="258" r:id="rId4"/>
  </p:sldIdLst>
  <p:sldSz cx="43891200" cy="29260800"/>
  <p:notesSz cx="7023100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87" userDrawn="1">
          <p15:clr>
            <a:srgbClr val="A4A3A4"/>
          </p15:clr>
        </p15:guide>
        <p15:guide id="2" pos="137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4172"/>
    <a:srgbClr val="EE8F4C"/>
    <a:srgbClr val="07385B"/>
    <a:srgbClr val="A1D0D0"/>
    <a:srgbClr val="0063A5"/>
    <a:srgbClr val="0021A5"/>
    <a:srgbClr val="68B6B4"/>
    <a:srgbClr val="003C3A"/>
    <a:srgbClr val="FFC368"/>
    <a:srgbClr val="40A2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257" autoAdjust="0"/>
  </p:normalViewPr>
  <p:slideViewPr>
    <p:cSldViewPr snapToGrid="0" showGuides="1">
      <p:cViewPr varScale="1">
        <p:scale>
          <a:sx n="25" d="100"/>
          <a:sy n="25" d="100"/>
        </p:scale>
        <p:origin x="1320" y="84"/>
      </p:cViewPr>
      <p:guideLst>
        <p:guide orient="horz" pos="9387"/>
        <p:guide pos="13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1"/>
          </a:xfrm>
          <a:prstGeom prst="rect">
            <a:avLst/>
          </a:prstGeom>
        </p:spPr>
        <p:txBody>
          <a:bodyPr vert="horz" lIns="91577" tIns="45789" rIns="91577" bIns="457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1"/>
          </a:xfrm>
          <a:prstGeom prst="rect">
            <a:avLst/>
          </a:prstGeom>
        </p:spPr>
        <p:txBody>
          <a:bodyPr vert="horz" lIns="91577" tIns="45789" rIns="91577" bIns="45789" rtlCol="0"/>
          <a:lstStyle>
            <a:lvl1pPr algn="r">
              <a:defRPr sz="1200"/>
            </a:lvl1pPr>
          </a:lstStyle>
          <a:p>
            <a:fld id="{936B2052-ED9A-4A7A-ABA3-9F1F19F25248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55700" y="1163638"/>
            <a:ext cx="4711700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77" tIns="45789" rIns="91577" bIns="457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9"/>
          </a:xfrm>
          <a:prstGeom prst="rect">
            <a:avLst/>
          </a:prstGeom>
        </p:spPr>
        <p:txBody>
          <a:bodyPr vert="horz" lIns="91577" tIns="45789" rIns="91577" bIns="457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1"/>
            <a:ext cx="3043343" cy="467070"/>
          </a:xfrm>
          <a:prstGeom prst="rect">
            <a:avLst/>
          </a:prstGeom>
        </p:spPr>
        <p:txBody>
          <a:bodyPr vert="horz" lIns="91577" tIns="45789" rIns="91577" bIns="457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1"/>
            <a:ext cx="3043343" cy="467070"/>
          </a:xfrm>
          <a:prstGeom prst="rect">
            <a:avLst/>
          </a:prstGeom>
        </p:spPr>
        <p:txBody>
          <a:bodyPr vert="horz" lIns="91577" tIns="45789" rIns="91577" bIns="45789" rtlCol="0" anchor="b"/>
          <a:lstStyle>
            <a:lvl1pPr algn="r">
              <a:defRPr sz="1200"/>
            </a:lvl1pPr>
          </a:lstStyle>
          <a:p>
            <a:fld id="{CDB06820-6980-4FDF-BA50-CA84A9E0D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313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94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1pPr>
    <a:lvl2pPr marL="456893" algn="l" defTabSz="913794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2pPr>
    <a:lvl3pPr marL="913794" algn="l" defTabSz="913794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3pPr>
    <a:lvl4pPr marL="1370687" algn="l" defTabSz="913794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4pPr>
    <a:lvl5pPr marL="1827588" algn="l" defTabSz="913794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5pPr>
    <a:lvl6pPr marL="2284475" algn="l" defTabSz="913794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6pPr>
    <a:lvl7pPr marL="2741371" algn="l" defTabSz="913794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7pPr>
    <a:lvl8pPr marL="3198269" algn="l" defTabSz="913794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8pPr>
    <a:lvl9pPr marL="3655162" algn="l" defTabSz="913794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698DF-9A06-5D65-328D-2C6E298C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00B9A8-479A-D218-8CF6-E8F04984F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55700" y="1163638"/>
            <a:ext cx="4711700" cy="314166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5691D2-918C-AFD5-536D-0BADFB99A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ACBB4-FCC1-E7C6-F861-27564F52ED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B06820-6980-4FDF-BA50-CA84A9E0D5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847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F9465-ED4F-634B-BEFC-B1B6640BC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618DB4-A12F-1EB9-1019-C770B6634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55700" y="1163638"/>
            <a:ext cx="4711700" cy="314166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A98EDF-9FC1-91F4-85BF-9BB488A5B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7D555-289D-508A-2B1F-2A09A5CC63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B06820-6980-4FDF-BA50-CA84A9E0D5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426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1163638"/>
            <a:ext cx="4711700" cy="31416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B06820-6980-4FDF-BA50-CA84A9E0D55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42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4788749"/>
            <a:ext cx="37307520" cy="10187093"/>
          </a:xfrm>
        </p:spPr>
        <p:txBody>
          <a:bodyPr anchor="b"/>
          <a:lstStyle>
            <a:lvl1pPr algn="ctr">
              <a:defRPr sz="2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5368695"/>
            <a:ext cx="32918400" cy="7064585"/>
          </a:xfrm>
        </p:spPr>
        <p:txBody>
          <a:bodyPr/>
          <a:lstStyle>
            <a:lvl1pPr marL="0" indent="0" algn="ctr">
              <a:buNone/>
              <a:defRPr sz="10240"/>
            </a:lvl1pPr>
            <a:lvl2pPr marL="1950735" indent="0" algn="ctr">
              <a:buNone/>
              <a:defRPr sz="8533"/>
            </a:lvl2pPr>
            <a:lvl3pPr marL="3901470" indent="0" algn="ctr">
              <a:buNone/>
              <a:defRPr sz="7680"/>
            </a:lvl3pPr>
            <a:lvl4pPr marL="5852206" indent="0" algn="ctr">
              <a:buNone/>
              <a:defRPr sz="6827"/>
            </a:lvl4pPr>
            <a:lvl5pPr marL="7802941" indent="0" algn="ctr">
              <a:buNone/>
              <a:defRPr sz="6827"/>
            </a:lvl5pPr>
            <a:lvl6pPr marL="9753676" indent="0" algn="ctr">
              <a:buNone/>
              <a:defRPr sz="6827"/>
            </a:lvl6pPr>
            <a:lvl7pPr marL="11704411" indent="0" algn="ctr">
              <a:buNone/>
              <a:defRPr sz="6827"/>
            </a:lvl7pPr>
            <a:lvl8pPr marL="13655147" indent="0" algn="ctr">
              <a:buNone/>
              <a:defRPr sz="6827"/>
            </a:lvl8pPr>
            <a:lvl9pPr marL="15605882" indent="0" algn="ctr">
              <a:buNone/>
              <a:defRPr sz="682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6D895-CBC1-452A-A067-8CD6E773525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56C-FE46-4E18-9839-923B5BEBE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475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6D895-CBC1-452A-A067-8CD6E773525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56C-FE46-4E18-9839-923B5BEBE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285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7294888"/>
            <a:ext cx="37856160" cy="12171678"/>
          </a:xfrm>
        </p:spPr>
        <p:txBody>
          <a:bodyPr anchor="b"/>
          <a:lstStyle>
            <a:lvl1pPr>
              <a:defRPr sz="2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19581715"/>
            <a:ext cx="37856160" cy="6400798"/>
          </a:xfrm>
        </p:spPr>
        <p:txBody>
          <a:bodyPr/>
          <a:lstStyle>
            <a:lvl1pPr marL="0" indent="0">
              <a:buNone/>
              <a:defRPr sz="10240">
                <a:solidFill>
                  <a:schemeClr val="tx1"/>
                </a:solidFill>
              </a:defRPr>
            </a:lvl1pPr>
            <a:lvl2pPr marL="1950735" indent="0">
              <a:buNone/>
              <a:defRPr sz="8533">
                <a:solidFill>
                  <a:schemeClr val="tx1">
                    <a:tint val="75000"/>
                  </a:schemeClr>
                </a:solidFill>
              </a:defRPr>
            </a:lvl2pPr>
            <a:lvl3pPr marL="390147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3pPr>
            <a:lvl4pPr marL="5852206" indent="0">
              <a:buNone/>
              <a:defRPr sz="6827">
                <a:solidFill>
                  <a:schemeClr val="tx1">
                    <a:tint val="75000"/>
                  </a:schemeClr>
                </a:solidFill>
              </a:defRPr>
            </a:lvl4pPr>
            <a:lvl5pPr marL="7802941" indent="0">
              <a:buNone/>
              <a:defRPr sz="6827">
                <a:solidFill>
                  <a:schemeClr val="tx1">
                    <a:tint val="75000"/>
                  </a:schemeClr>
                </a:solidFill>
              </a:defRPr>
            </a:lvl5pPr>
            <a:lvl6pPr marL="9753676" indent="0">
              <a:buNone/>
              <a:defRPr sz="6827">
                <a:solidFill>
                  <a:schemeClr val="tx1">
                    <a:tint val="75000"/>
                  </a:schemeClr>
                </a:solidFill>
              </a:defRPr>
            </a:lvl6pPr>
            <a:lvl7pPr marL="11704411" indent="0">
              <a:buNone/>
              <a:defRPr sz="6827">
                <a:solidFill>
                  <a:schemeClr val="tx1">
                    <a:tint val="75000"/>
                  </a:schemeClr>
                </a:solidFill>
              </a:defRPr>
            </a:lvl7pPr>
            <a:lvl8pPr marL="13655147" indent="0">
              <a:buNone/>
              <a:defRPr sz="6827">
                <a:solidFill>
                  <a:schemeClr val="tx1">
                    <a:tint val="75000"/>
                  </a:schemeClr>
                </a:solidFill>
              </a:defRPr>
            </a:lvl8pPr>
            <a:lvl9pPr marL="15605882" indent="0">
              <a:buNone/>
              <a:defRPr sz="682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6D895-CBC1-452A-A067-8CD6E773525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56C-FE46-4E18-9839-923B5BEBE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01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7789333"/>
            <a:ext cx="18653760" cy="1856570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7789333"/>
            <a:ext cx="18653760" cy="1856570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6D895-CBC1-452A-A067-8CD6E773525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56C-FE46-4E18-9839-923B5BEBE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780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557873"/>
            <a:ext cx="37856160" cy="56557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7172962"/>
            <a:ext cx="18568032" cy="3515358"/>
          </a:xfrm>
        </p:spPr>
        <p:txBody>
          <a:bodyPr anchor="b"/>
          <a:lstStyle>
            <a:lvl1pPr marL="0" indent="0">
              <a:buNone/>
              <a:defRPr sz="10240" b="1"/>
            </a:lvl1pPr>
            <a:lvl2pPr marL="1950735" indent="0">
              <a:buNone/>
              <a:defRPr sz="8533" b="1"/>
            </a:lvl2pPr>
            <a:lvl3pPr marL="3901470" indent="0">
              <a:buNone/>
              <a:defRPr sz="7680" b="1"/>
            </a:lvl3pPr>
            <a:lvl4pPr marL="5852206" indent="0">
              <a:buNone/>
              <a:defRPr sz="6827" b="1"/>
            </a:lvl4pPr>
            <a:lvl5pPr marL="7802941" indent="0">
              <a:buNone/>
              <a:defRPr sz="6827" b="1"/>
            </a:lvl5pPr>
            <a:lvl6pPr marL="9753676" indent="0">
              <a:buNone/>
              <a:defRPr sz="6827" b="1"/>
            </a:lvl6pPr>
            <a:lvl7pPr marL="11704411" indent="0">
              <a:buNone/>
              <a:defRPr sz="6827" b="1"/>
            </a:lvl7pPr>
            <a:lvl8pPr marL="13655147" indent="0">
              <a:buNone/>
              <a:defRPr sz="6827" b="1"/>
            </a:lvl8pPr>
            <a:lvl9pPr marL="15605882" indent="0">
              <a:buNone/>
              <a:defRPr sz="682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0688320"/>
            <a:ext cx="18568032" cy="1572090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7172962"/>
            <a:ext cx="18659477" cy="3515358"/>
          </a:xfrm>
        </p:spPr>
        <p:txBody>
          <a:bodyPr anchor="b"/>
          <a:lstStyle>
            <a:lvl1pPr marL="0" indent="0">
              <a:buNone/>
              <a:defRPr sz="10240" b="1"/>
            </a:lvl1pPr>
            <a:lvl2pPr marL="1950735" indent="0">
              <a:buNone/>
              <a:defRPr sz="8533" b="1"/>
            </a:lvl2pPr>
            <a:lvl3pPr marL="3901470" indent="0">
              <a:buNone/>
              <a:defRPr sz="7680" b="1"/>
            </a:lvl3pPr>
            <a:lvl4pPr marL="5852206" indent="0">
              <a:buNone/>
              <a:defRPr sz="6827" b="1"/>
            </a:lvl4pPr>
            <a:lvl5pPr marL="7802941" indent="0">
              <a:buNone/>
              <a:defRPr sz="6827" b="1"/>
            </a:lvl5pPr>
            <a:lvl6pPr marL="9753676" indent="0">
              <a:buNone/>
              <a:defRPr sz="6827" b="1"/>
            </a:lvl6pPr>
            <a:lvl7pPr marL="11704411" indent="0">
              <a:buNone/>
              <a:defRPr sz="6827" b="1"/>
            </a:lvl7pPr>
            <a:lvl8pPr marL="13655147" indent="0">
              <a:buNone/>
              <a:defRPr sz="6827" b="1"/>
            </a:lvl8pPr>
            <a:lvl9pPr marL="15605882" indent="0">
              <a:buNone/>
              <a:defRPr sz="682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0688320"/>
            <a:ext cx="18659477" cy="1572090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6D895-CBC1-452A-A067-8CD6E773525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56C-FE46-4E18-9839-923B5BEBE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970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6D895-CBC1-452A-A067-8CD6E773525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56C-FE46-4E18-9839-923B5BEBE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4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6D895-CBC1-452A-A067-8CD6E773525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56C-FE46-4E18-9839-923B5BEBE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268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950720"/>
            <a:ext cx="14156054" cy="6827520"/>
          </a:xfrm>
        </p:spPr>
        <p:txBody>
          <a:bodyPr anchor="b"/>
          <a:lstStyle>
            <a:lvl1pPr>
              <a:defRPr sz="136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213020"/>
            <a:ext cx="22219920" cy="20794133"/>
          </a:xfrm>
        </p:spPr>
        <p:txBody>
          <a:bodyPr/>
          <a:lstStyle>
            <a:lvl1pPr>
              <a:defRPr sz="13653"/>
            </a:lvl1pPr>
            <a:lvl2pPr>
              <a:defRPr sz="11947"/>
            </a:lvl2pPr>
            <a:lvl3pPr>
              <a:defRPr sz="10240"/>
            </a:lvl3pPr>
            <a:lvl4pPr>
              <a:defRPr sz="8533"/>
            </a:lvl4pPr>
            <a:lvl5pPr>
              <a:defRPr sz="8533"/>
            </a:lvl5pPr>
            <a:lvl6pPr>
              <a:defRPr sz="8533"/>
            </a:lvl6pPr>
            <a:lvl7pPr>
              <a:defRPr sz="8533"/>
            </a:lvl7pPr>
            <a:lvl8pPr>
              <a:defRPr sz="8533"/>
            </a:lvl8pPr>
            <a:lvl9pPr>
              <a:defRPr sz="85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8778240"/>
            <a:ext cx="14156054" cy="16262775"/>
          </a:xfrm>
        </p:spPr>
        <p:txBody>
          <a:bodyPr/>
          <a:lstStyle>
            <a:lvl1pPr marL="0" indent="0">
              <a:buNone/>
              <a:defRPr sz="6827"/>
            </a:lvl1pPr>
            <a:lvl2pPr marL="1950735" indent="0">
              <a:buNone/>
              <a:defRPr sz="5973"/>
            </a:lvl2pPr>
            <a:lvl3pPr marL="3901470" indent="0">
              <a:buNone/>
              <a:defRPr sz="5120"/>
            </a:lvl3pPr>
            <a:lvl4pPr marL="5852206" indent="0">
              <a:buNone/>
              <a:defRPr sz="4267"/>
            </a:lvl4pPr>
            <a:lvl5pPr marL="7802941" indent="0">
              <a:buNone/>
              <a:defRPr sz="4267"/>
            </a:lvl5pPr>
            <a:lvl6pPr marL="9753676" indent="0">
              <a:buNone/>
              <a:defRPr sz="4267"/>
            </a:lvl6pPr>
            <a:lvl7pPr marL="11704411" indent="0">
              <a:buNone/>
              <a:defRPr sz="4267"/>
            </a:lvl7pPr>
            <a:lvl8pPr marL="13655147" indent="0">
              <a:buNone/>
              <a:defRPr sz="4267"/>
            </a:lvl8pPr>
            <a:lvl9pPr marL="15605882" indent="0">
              <a:buNone/>
              <a:defRPr sz="42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6D895-CBC1-452A-A067-8CD6E773525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56C-FE46-4E18-9839-923B5BEBE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052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950720"/>
            <a:ext cx="14156054" cy="6827520"/>
          </a:xfrm>
        </p:spPr>
        <p:txBody>
          <a:bodyPr anchor="b"/>
          <a:lstStyle>
            <a:lvl1pPr>
              <a:defRPr sz="136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213020"/>
            <a:ext cx="22219920" cy="20794133"/>
          </a:xfrm>
        </p:spPr>
        <p:txBody>
          <a:bodyPr anchor="t"/>
          <a:lstStyle>
            <a:lvl1pPr marL="0" indent="0">
              <a:buNone/>
              <a:defRPr sz="13653"/>
            </a:lvl1pPr>
            <a:lvl2pPr marL="1950735" indent="0">
              <a:buNone/>
              <a:defRPr sz="11947"/>
            </a:lvl2pPr>
            <a:lvl3pPr marL="3901470" indent="0">
              <a:buNone/>
              <a:defRPr sz="10240"/>
            </a:lvl3pPr>
            <a:lvl4pPr marL="5852206" indent="0">
              <a:buNone/>
              <a:defRPr sz="8533"/>
            </a:lvl4pPr>
            <a:lvl5pPr marL="7802941" indent="0">
              <a:buNone/>
              <a:defRPr sz="8533"/>
            </a:lvl5pPr>
            <a:lvl6pPr marL="9753676" indent="0">
              <a:buNone/>
              <a:defRPr sz="8533"/>
            </a:lvl6pPr>
            <a:lvl7pPr marL="11704411" indent="0">
              <a:buNone/>
              <a:defRPr sz="8533"/>
            </a:lvl7pPr>
            <a:lvl8pPr marL="13655147" indent="0">
              <a:buNone/>
              <a:defRPr sz="8533"/>
            </a:lvl8pPr>
            <a:lvl9pPr marL="15605882" indent="0">
              <a:buNone/>
              <a:defRPr sz="85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8778240"/>
            <a:ext cx="14156054" cy="16262775"/>
          </a:xfrm>
        </p:spPr>
        <p:txBody>
          <a:bodyPr/>
          <a:lstStyle>
            <a:lvl1pPr marL="0" indent="0">
              <a:buNone/>
              <a:defRPr sz="6827"/>
            </a:lvl1pPr>
            <a:lvl2pPr marL="1950735" indent="0">
              <a:buNone/>
              <a:defRPr sz="5973"/>
            </a:lvl2pPr>
            <a:lvl3pPr marL="3901470" indent="0">
              <a:buNone/>
              <a:defRPr sz="5120"/>
            </a:lvl3pPr>
            <a:lvl4pPr marL="5852206" indent="0">
              <a:buNone/>
              <a:defRPr sz="4267"/>
            </a:lvl4pPr>
            <a:lvl5pPr marL="7802941" indent="0">
              <a:buNone/>
              <a:defRPr sz="4267"/>
            </a:lvl5pPr>
            <a:lvl6pPr marL="9753676" indent="0">
              <a:buNone/>
              <a:defRPr sz="4267"/>
            </a:lvl6pPr>
            <a:lvl7pPr marL="11704411" indent="0">
              <a:buNone/>
              <a:defRPr sz="4267"/>
            </a:lvl7pPr>
            <a:lvl8pPr marL="13655147" indent="0">
              <a:buNone/>
              <a:defRPr sz="4267"/>
            </a:lvl8pPr>
            <a:lvl9pPr marL="15605882" indent="0">
              <a:buNone/>
              <a:defRPr sz="42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6D895-CBC1-452A-A067-8CD6E773525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56C-FE46-4E18-9839-923B5BEBE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680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6D895-CBC1-452A-A067-8CD6E773525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56C-FE46-4E18-9839-923B5BEBE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945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557867"/>
            <a:ext cx="9464040" cy="247971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557867"/>
            <a:ext cx="27843480" cy="247971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6D895-CBC1-452A-A067-8CD6E773525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56C-FE46-4E18-9839-923B5BEBE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72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557873"/>
            <a:ext cx="37856160" cy="5655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7789333"/>
            <a:ext cx="37856160" cy="18565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27120433"/>
            <a:ext cx="9875520" cy="1557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6D895-CBC1-452A-A067-8CD6E773525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27120433"/>
            <a:ext cx="14813280" cy="1557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27120433"/>
            <a:ext cx="9875520" cy="1557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D356C-FE46-4E18-9839-923B5BEBE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23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3901470" rtl="0" eaLnBrk="1" latinLnBrk="0" hangingPunct="1">
        <a:lnSpc>
          <a:spcPct val="90000"/>
        </a:lnSpc>
        <a:spcBef>
          <a:spcPct val="0"/>
        </a:spcBef>
        <a:buNone/>
        <a:defRPr sz="187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75368" indent="-975368" algn="l" defTabSz="3901470" rtl="0" eaLnBrk="1" latinLnBrk="0" hangingPunct="1">
        <a:lnSpc>
          <a:spcPct val="90000"/>
        </a:lnSpc>
        <a:spcBef>
          <a:spcPts val="4267"/>
        </a:spcBef>
        <a:buFont typeface="Arial" panose="020B0604020202020204" pitchFamily="34" charset="0"/>
        <a:buChar char="•"/>
        <a:defRPr sz="11947" kern="1200">
          <a:solidFill>
            <a:schemeClr val="tx1"/>
          </a:solidFill>
          <a:latin typeface="+mn-lt"/>
          <a:ea typeface="+mn-ea"/>
          <a:cs typeface="+mn-cs"/>
        </a:defRPr>
      </a:lvl1pPr>
      <a:lvl2pPr marL="2926103" indent="-975368" algn="l" defTabSz="3901470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10240" kern="1200">
          <a:solidFill>
            <a:schemeClr val="tx1"/>
          </a:solidFill>
          <a:latin typeface="+mn-lt"/>
          <a:ea typeface="+mn-ea"/>
          <a:cs typeface="+mn-cs"/>
        </a:defRPr>
      </a:lvl2pPr>
      <a:lvl3pPr marL="4876838" indent="-975368" algn="l" defTabSz="3901470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8533" kern="1200">
          <a:solidFill>
            <a:schemeClr val="tx1"/>
          </a:solidFill>
          <a:latin typeface="+mn-lt"/>
          <a:ea typeface="+mn-ea"/>
          <a:cs typeface="+mn-cs"/>
        </a:defRPr>
      </a:lvl3pPr>
      <a:lvl4pPr marL="6827573" indent="-975368" algn="l" defTabSz="3901470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4pPr>
      <a:lvl5pPr marL="8778309" indent="-975368" algn="l" defTabSz="3901470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5pPr>
      <a:lvl6pPr marL="10729044" indent="-975368" algn="l" defTabSz="3901470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6pPr>
      <a:lvl7pPr marL="12679779" indent="-975368" algn="l" defTabSz="3901470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514" indent="-975368" algn="l" defTabSz="3901470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8pPr>
      <a:lvl9pPr marL="16581250" indent="-975368" algn="l" defTabSz="3901470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901470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1pPr>
      <a:lvl2pPr marL="1950735" algn="l" defTabSz="3901470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901470" algn="l" defTabSz="3901470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3pPr>
      <a:lvl4pPr marL="5852206" algn="l" defTabSz="3901470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4pPr>
      <a:lvl5pPr marL="7802941" algn="l" defTabSz="3901470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5pPr>
      <a:lvl6pPr marL="9753676" algn="l" defTabSz="3901470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6pPr>
      <a:lvl7pPr marL="11704411" algn="l" defTabSz="3901470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7pPr>
      <a:lvl8pPr marL="13655147" algn="l" defTabSz="3901470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8pPr>
      <a:lvl9pPr marL="15605882" algn="l" defTabSz="3901470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1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44D740-7305-E29F-4EBD-47BA12D4A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tangle 290">
            <a:extLst>
              <a:ext uri="{FF2B5EF4-FFF2-40B4-BE49-F238E27FC236}">
                <a16:creationId xmlns:a16="http://schemas.microsoft.com/office/drawing/2014/main" id="{32E520A8-E768-B8D1-A137-61DDC213AF8A}"/>
              </a:ext>
            </a:extLst>
          </p:cNvPr>
          <p:cNvSpPr/>
          <p:nvPr/>
        </p:nvSpPr>
        <p:spPr>
          <a:xfrm>
            <a:off x="11045413" y="5202226"/>
            <a:ext cx="20976336" cy="128733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43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4B8BA8-549F-F1B1-793B-0139F117D9D5}"/>
              </a:ext>
            </a:extLst>
          </p:cNvPr>
          <p:cNvSpPr/>
          <p:nvPr/>
        </p:nvSpPr>
        <p:spPr>
          <a:xfrm>
            <a:off x="231822" y="5202225"/>
            <a:ext cx="10515600" cy="100499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536" tIns="97536" rIns="97536" bIns="97536" rtlCol="0" anchor="t"/>
          <a:lstStyle/>
          <a:p>
            <a:pPr algn="ctr">
              <a:spcBef>
                <a:spcPts val="320"/>
              </a:spcBef>
              <a:spcAft>
                <a:spcPts val="320"/>
              </a:spcAft>
            </a:pPr>
            <a:r>
              <a:rPr lang="en-US" sz="4267" b="1" dirty="0">
                <a:solidFill>
                  <a:srgbClr val="124172"/>
                </a:solidFill>
              </a:rPr>
              <a:t> INTRODUCTION</a:t>
            </a:r>
            <a:endParaRPr lang="en-US" sz="4267" dirty="0">
              <a:solidFill>
                <a:srgbClr val="124172"/>
              </a:solidFill>
            </a:endParaRP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Over the past two decades, state-level cannabis legalization status has been in flux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Many studies have focused on the impact of cannabis legalization on cannabis use; however, less is known about the indirect effects on alcohol use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Little is known how policies differentially affect male vs. female youth</a:t>
            </a:r>
          </a:p>
          <a:p>
            <a:pPr marL="48771">
              <a:buClr>
                <a:srgbClr val="124172"/>
              </a:buClr>
            </a:pP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just">
              <a:spcBef>
                <a:spcPts val="320"/>
              </a:spcBef>
              <a:spcAft>
                <a:spcPts val="320"/>
              </a:spcAft>
            </a:pPr>
            <a:endParaRPr lang="en-US" sz="4089" b="1" u="sng" dirty="0">
              <a:solidFill>
                <a:srgbClr val="124172"/>
              </a:solidFill>
            </a:endParaRPr>
          </a:p>
          <a:p>
            <a:pPr algn="just">
              <a:spcBef>
                <a:spcPts val="320"/>
              </a:spcBef>
              <a:spcAft>
                <a:spcPts val="320"/>
              </a:spcAft>
            </a:pPr>
            <a:r>
              <a:rPr lang="en-US" sz="4089" b="1" u="sng" dirty="0">
                <a:solidFill>
                  <a:srgbClr val="124172"/>
                </a:solidFill>
              </a:rPr>
              <a:t>Objectives:</a:t>
            </a:r>
          </a:p>
          <a:p>
            <a:pPr algn="just">
              <a:spcBef>
                <a:spcPts val="320"/>
              </a:spcBef>
              <a:spcAft>
                <a:spcPts val="320"/>
              </a:spcAft>
            </a:pPr>
            <a:r>
              <a:rPr lang="en-US" sz="4200" b="1" dirty="0">
                <a:solidFill>
                  <a:srgbClr val="124172"/>
                </a:solidFill>
              </a:rPr>
              <a:t>1) Characterize differences in rates of alcohol use and related risk factors between states with different cannabis legalization</a:t>
            </a:r>
          </a:p>
          <a:p>
            <a:pPr algn="just">
              <a:spcBef>
                <a:spcPts val="320"/>
              </a:spcBef>
              <a:spcAft>
                <a:spcPts val="320"/>
              </a:spcAft>
            </a:pPr>
            <a:r>
              <a:rPr lang="en-US" sz="4200" b="1" dirty="0">
                <a:solidFill>
                  <a:srgbClr val="124172"/>
                </a:solidFill>
              </a:rPr>
              <a:t>2) Stratify by sex</a:t>
            </a:r>
            <a:endParaRPr lang="en-US" sz="4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endParaRPr lang="en-US" sz="391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Flowchart: Process 26">
            <a:extLst>
              <a:ext uri="{FF2B5EF4-FFF2-40B4-BE49-F238E27FC236}">
                <a16:creationId xmlns:a16="http://schemas.microsoft.com/office/drawing/2014/main" id="{18B9E115-6108-845C-DF4F-71F724F7DB69}"/>
              </a:ext>
            </a:extLst>
          </p:cNvPr>
          <p:cNvSpPr/>
          <p:nvPr/>
        </p:nvSpPr>
        <p:spPr>
          <a:xfrm>
            <a:off x="231823" y="280412"/>
            <a:ext cx="43295756" cy="4571094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5"/>
          </a:p>
        </p:txBody>
      </p:sp>
      <p:sp>
        <p:nvSpPr>
          <p:cNvPr id="33" name="Content Placeholder 5">
            <a:extLst>
              <a:ext uri="{FF2B5EF4-FFF2-40B4-BE49-F238E27FC236}">
                <a16:creationId xmlns:a16="http://schemas.microsoft.com/office/drawing/2014/main" id="{79704325-F031-D43F-DC42-A2B92F2BDBD0}"/>
              </a:ext>
            </a:extLst>
          </p:cNvPr>
          <p:cNvSpPr txBox="1">
            <a:spLocks/>
          </p:cNvSpPr>
          <p:nvPr/>
        </p:nvSpPr>
        <p:spPr>
          <a:xfrm>
            <a:off x="6500116" y="620389"/>
            <a:ext cx="31218884" cy="2712730"/>
          </a:xfrm>
          <a:prstGeom prst="rect">
            <a:avLst/>
          </a:prstGeom>
        </p:spPr>
        <p:txBody>
          <a:bodyPr>
            <a:noAutofit/>
          </a:bodyPr>
          <a:lstStyle>
            <a:lvl1pPr marL="1097280" indent="-1097280" algn="l" defTabSz="4389120" rtl="0" eaLnBrk="1" latinLnBrk="0" hangingPunct="1">
              <a:lnSpc>
                <a:spcPct val="90000"/>
              </a:lnSpc>
              <a:spcBef>
                <a:spcPts val="4800"/>
              </a:spcBef>
              <a:buFont typeface="Arial" panose="020B0604020202020204" pitchFamily="34" charset="0"/>
              <a:buChar char="•"/>
              <a:defRPr sz="13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918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11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9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52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92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7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356" b="1" dirty="0">
                <a:solidFill>
                  <a:srgbClr val="124172"/>
                </a:solidFill>
                <a:cs typeface="Calibri Light" panose="020F0302020204030204" pitchFamily="34" charset="0"/>
              </a:rPr>
              <a:t>State Differences in Adolescent Alcohol Use and Related-Risk Factors: An Investigation of the Impact of Cannabis Legalization Policies</a:t>
            </a:r>
          </a:p>
        </p:txBody>
      </p:sp>
      <p:sp>
        <p:nvSpPr>
          <p:cNvPr id="34" name="Content Placeholder 5">
            <a:extLst>
              <a:ext uri="{FF2B5EF4-FFF2-40B4-BE49-F238E27FC236}">
                <a16:creationId xmlns:a16="http://schemas.microsoft.com/office/drawing/2014/main" id="{5E49C4FC-3315-6DB0-12D0-4B2A02B92B8E}"/>
              </a:ext>
            </a:extLst>
          </p:cNvPr>
          <p:cNvSpPr txBox="1">
            <a:spLocks/>
          </p:cNvSpPr>
          <p:nvPr/>
        </p:nvSpPr>
        <p:spPr>
          <a:xfrm>
            <a:off x="7160742" y="3439774"/>
            <a:ext cx="29569715" cy="1183788"/>
          </a:xfrm>
          <a:prstGeom prst="rect">
            <a:avLst/>
          </a:prstGeom>
        </p:spPr>
        <p:txBody>
          <a:bodyPr>
            <a:noAutofit/>
          </a:bodyPr>
          <a:lstStyle>
            <a:lvl1pPr marL="1097280" indent="-1097280" algn="l" defTabSz="4389120" rtl="0" eaLnBrk="1" latinLnBrk="0" hangingPunct="1">
              <a:lnSpc>
                <a:spcPct val="90000"/>
              </a:lnSpc>
              <a:spcBef>
                <a:spcPts val="4800"/>
              </a:spcBef>
              <a:buFont typeface="Arial" panose="020B0604020202020204" pitchFamily="34" charset="0"/>
              <a:buChar char="•"/>
              <a:defRPr sz="13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918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11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9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52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92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7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Andrew J. Moore PhD, Kevin M. Gray, MD</a:t>
            </a:r>
            <a:endParaRPr lang="en-US" sz="4800" baseline="30000" dirty="0">
              <a:solidFill>
                <a:schemeClr val="tx1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Department of Psychiatry and Behavioral Sciences; Department of Neuroscience, Medical University of South Carolina</a:t>
            </a:r>
            <a:endParaRPr lang="en-US" sz="4800" baseline="30000" dirty="0">
              <a:solidFill>
                <a:schemeClr val="tx1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9E87F44-227C-A7B4-0E5D-F4104EE5D3AA}"/>
              </a:ext>
            </a:extLst>
          </p:cNvPr>
          <p:cNvSpPr/>
          <p:nvPr/>
        </p:nvSpPr>
        <p:spPr>
          <a:xfrm>
            <a:off x="231821" y="26128814"/>
            <a:ext cx="10515600" cy="2849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536" tIns="97536" rIns="97536" bIns="97536" rtlCol="0" anchor="t"/>
          <a:lstStyle/>
          <a:p>
            <a:pPr>
              <a:spcBef>
                <a:spcPts val="320"/>
              </a:spcBef>
              <a:spcAft>
                <a:spcPts val="320"/>
              </a:spcAft>
            </a:pPr>
            <a:r>
              <a:rPr lang="en-US" sz="4267" b="1" dirty="0">
                <a:solidFill>
                  <a:srgbClr val="124172"/>
                </a:solidFill>
              </a:rPr>
              <a:t> FUNDING &amp; SOCIALS</a:t>
            </a:r>
          </a:p>
          <a:p>
            <a:pPr>
              <a:spcBef>
                <a:spcPts val="320"/>
              </a:spcBef>
              <a:spcAft>
                <a:spcPts val="320"/>
              </a:spcAft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T32DA007288 (Moore)</a:t>
            </a:r>
          </a:p>
          <a:p>
            <a:pPr>
              <a:spcBef>
                <a:spcPts val="320"/>
              </a:spcBef>
              <a:spcAft>
                <a:spcPts val="320"/>
              </a:spcAft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@muscyouthcollab | @ajmoore27 </a:t>
            </a:r>
          </a:p>
          <a:p>
            <a:pPr>
              <a:spcBef>
                <a:spcPts val="320"/>
              </a:spcBef>
              <a:spcAft>
                <a:spcPts val="320"/>
              </a:spcAft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mooreand@musc.edu</a:t>
            </a:r>
          </a:p>
        </p:txBody>
      </p:sp>
      <p:pic>
        <p:nvPicPr>
          <p:cNvPr id="1026" name="Picture 2" descr="Twitter new logo . Twitter icons. Twitter X logo 26839941 ...">
            <a:extLst>
              <a:ext uri="{FF2B5EF4-FFF2-40B4-BE49-F238E27FC236}">
                <a16:creationId xmlns:a16="http://schemas.microsoft.com/office/drawing/2014/main" id="{46845C9A-B0FD-FE89-1323-30E0303ED6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11" b="15069"/>
          <a:stretch/>
        </p:blipFill>
        <p:spPr bwMode="auto">
          <a:xfrm>
            <a:off x="5873783" y="26154141"/>
            <a:ext cx="1641517" cy="816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E6434294-F4BC-32C3-FD3E-C6520B83C1CA}"/>
              </a:ext>
            </a:extLst>
          </p:cNvPr>
          <p:cNvSpPr/>
          <p:nvPr/>
        </p:nvSpPr>
        <p:spPr>
          <a:xfrm>
            <a:off x="11045413" y="18236460"/>
            <a:ext cx="20983074" cy="107422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536" tIns="97536" rIns="97536" bIns="97536" rtlCol="0" anchor="t"/>
          <a:lstStyle/>
          <a:p>
            <a:pPr lvl="0" algn="ctr">
              <a:spcBef>
                <a:spcPts val="320"/>
              </a:spcBef>
              <a:spcAft>
                <a:spcPts val="320"/>
              </a:spcAft>
              <a:defRPr/>
            </a:pPr>
            <a:r>
              <a:rPr lang="en-US" sz="4267" b="1" dirty="0">
                <a:solidFill>
                  <a:srgbClr val="124172"/>
                </a:solidFill>
              </a:rPr>
              <a:t>OVERALL RESULTS</a:t>
            </a:r>
            <a:endParaRPr lang="en-US" sz="4267" dirty="0">
              <a:solidFill>
                <a:srgbClr val="124172"/>
              </a:solidFill>
            </a:endParaRPr>
          </a:p>
          <a:p>
            <a:pPr marL="556778" lvl="0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4000" dirty="0">
                <a:solidFill>
                  <a:prstClr val="black">
                    <a:lumMod val="85000"/>
                    <a:lumOff val="15000"/>
                  </a:prstClr>
                </a:solidFill>
              </a:rPr>
              <a:t>No differences in rates of alcohol use (p &gt; 0.800)</a:t>
            </a:r>
          </a:p>
          <a:p>
            <a:pPr marL="556778" lvl="0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4000" dirty="0">
                <a:solidFill>
                  <a:prstClr val="black">
                    <a:lumMod val="85000"/>
                    <a:lumOff val="15000"/>
                  </a:prstClr>
                </a:solidFill>
              </a:rPr>
              <a:t>A trend towards lower age of alcohol initiation in Recreational States compared to Restricted</a:t>
            </a:r>
          </a:p>
          <a:p>
            <a:pPr marL="1013978" lvl="1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4000" dirty="0">
                <a:solidFill>
                  <a:prstClr val="black">
                    <a:lumMod val="85000"/>
                    <a:lumOff val="15000"/>
                  </a:prstClr>
                </a:solidFill>
              </a:rPr>
              <a:t>β = -0.168, p = 0.053</a:t>
            </a:r>
            <a:endParaRPr lang="en-US" sz="4000" b="1" dirty="0">
              <a:solidFill>
                <a:srgbClr val="124172"/>
              </a:solidFill>
            </a:endParaRPr>
          </a:p>
          <a:p>
            <a:pPr marL="556778" lvl="0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4000" dirty="0">
                <a:solidFill>
                  <a:prstClr val="black">
                    <a:lumMod val="85000"/>
                    <a:lumOff val="15000"/>
                  </a:prstClr>
                </a:solidFill>
              </a:rPr>
              <a:t>Higher rates of perceived substance availability in both Recreational and Medical States</a:t>
            </a:r>
          </a:p>
          <a:p>
            <a:pPr marL="1013978" lvl="1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4000" dirty="0">
                <a:solidFill>
                  <a:prstClr val="black">
                    <a:lumMod val="85000"/>
                    <a:lumOff val="15000"/>
                  </a:prstClr>
                </a:solidFill>
              </a:rPr>
              <a:t>Recreational v Restricted- β = 0.262, p &lt; 0.001</a:t>
            </a:r>
          </a:p>
          <a:p>
            <a:pPr marL="1013978" lvl="1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4000" dirty="0">
                <a:solidFill>
                  <a:schemeClr val="tx1"/>
                </a:solidFill>
              </a:rPr>
              <a:t>Medical v Restricted- </a:t>
            </a:r>
            <a:r>
              <a:rPr lang="en-US" sz="4000" dirty="0">
                <a:solidFill>
                  <a:prstClr val="black">
                    <a:lumMod val="85000"/>
                    <a:lumOff val="15000"/>
                  </a:prstClr>
                </a:solidFill>
              </a:rPr>
              <a:t>β = 0.262, p = 0.006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4000" dirty="0">
                <a:solidFill>
                  <a:prstClr val="black">
                    <a:lumMod val="85000"/>
                    <a:lumOff val="15000"/>
                  </a:prstClr>
                </a:solidFill>
              </a:rPr>
              <a:t>Higher rates of youth-reported positive alcohol expectancies in Recreational and Medical States</a:t>
            </a:r>
          </a:p>
          <a:p>
            <a:pPr marL="1013978" lvl="1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4000" dirty="0">
                <a:solidFill>
                  <a:schemeClr val="tx1"/>
                </a:solidFill>
              </a:rPr>
              <a:t>Recreational v Restricted- </a:t>
            </a:r>
            <a:r>
              <a:rPr lang="en-US" sz="4000" dirty="0">
                <a:solidFill>
                  <a:prstClr val="black">
                    <a:lumMod val="85000"/>
                    <a:lumOff val="15000"/>
                  </a:prstClr>
                </a:solidFill>
              </a:rPr>
              <a:t>β = 0.112, p &lt; 0.001</a:t>
            </a:r>
          </a:p>
          <a:p>
            <a:pPr marL="1013978" lvl="1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4000" dirty="0">
                <a:solidFill>
                  <a:schemeClr val="tx1"/>
                </a:solidFill>
              </a:rPr>
              <a:t>Medical v Restricted- </a:t>
            </a:r>
            <a:r>
              <a:rPr lang="en-US" sz="4000" dirty="0">
                <a:solidFill>
                  <a:prstClr val="black">
                    <a:lumMod val="85000"/>
                    <a:lumOff val="15000"/>
                  </a:prstClr>
                </a:solidFill>
              </a:rPr>
              <a:t>β = 0.091, p &lt; 0.001</a:t>
            </a:r>
          </a:p>
          <a:p>
            <a:pPr marL="556778" lvl="0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4000" dirty="0">
                <a:solidFill>
                  <a:prstClr val="black">
                    <a:lumMod val="85000"/>
                    <a:lumOff val="15000"/>
                  </a:prstClr>
                </a:solidFill>
              </a:rPr>
              <a:t>A trend towards lower negative alcohol expectancies in Medical States compared to Restricted</a:t>
            </a:r>
          </a:p>
          <a:p>
            <a:pPr marL="1013978" lvl="1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4000" dirty="0">
                <a:solidFill>
                  <a:prstClr val="black">
                    <a:lumMod val="85000"/>
                    <a:lumOff val="15000"/>
                  </a:prstClr>
                </a:solidFill>
              </a:rPr>
              <a:t>β = -0.040, p = 0.060</a:t>
            </a:r>
            <a:endParaRPr lang="en-US" sz="4000" b="1" dirty="0">
              <a:solidFill>
                <a:srgbClr val="124172"/>
              </a:solidFill>
            </a:endParaRPr>
          </a:p>
          <a:p>
            <a:pPr lvl="0" algn="ctr">
              <a:spcBef>
                <a:spcPts val="320"/>
              </a:spcBef>
              <a:spcAft>
                <a:spcPts val="320"/>
              </a:spcAft>
              <a:defRPr/>
            </a:pPr>
            <a:r>
              <a:rPr lang="en-US" sz="4267" b="1" dirty="0">
                <a:solidFill>
                  <a:srgbClr val="124172"/>
                </a:solidFill>
              </a:rPr>
              <a:t>SEX-SPECIFIC RESULTS</a:t>
            </a:r>
            <a:endParaRPr lang="en-US" sz="4267" dirty="0">
              <a:solidFill>
                <a:srgbClr val="124172"/>
              </a:solidFill>
            </a:endParaRPr>
          </a:p>
          <a:p>
            <a:pPr marL="556778" lvl="0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4000" dirty="0">
                <a:solidFill>
                  <a:prstClr val="black">
                    <a:lumMod val="85000"/>
                    <a:lumOff val="15000"/>
                  </a:prstClr>
                </a:solidFill>
              </a:rPr>
              <a:t>Females initiated alcohol use at an earlier age in Recreational States compared to Restricted</a:t>
            </a:r>
          </a:p>
          <a:p>
            <a:pPr marL="1013978" lvl="1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4000" dirty="0">
                <a:solidFill>
                  <a:prstClr val="black">
                    <a:lumMod val="85000"/>
                    <a:lumOff val="15000"/>
                  </a:prstClr>
                </a:solidFill>
              </a:rPr>
              <a:t>β = -0.237, p = 0.045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4000" dirty="0">
                <a:solidFill>
                  <a:prstClr val="black">
                    <a:lumMod val="85000"/>
                    <a:lumOff val="15000"/>
                  </a:prstClr>
                </a:solidFill>
              </a:rPr>
              <a:t>While females continued to show a trend towards lower negative alcohol expectancies in Medical States compared to Restricted (β = -0.059,p = 0.064), males did not (p = 0.410)</a:t>
            </a:r>
            <a:endParaRPr lang="en-US" sz="4000" dirty="0"/>
          </a:p>
        </p:txBody>
      </p:sp>
      <p:pic>
        <p:nvPicPr>
          <p:cNvPr id="3" name="Picture 4" descr="MUSC Collaborative: Youth Psychiatry | MUSC Health | Charleston SC">
            <a:extLst>
              <a:ext uri="{FF2B5EF4-FFF2-40B4-BE49-F238E27FC236}">
                <a16:creationId xmlns:a16="http://schemas.microsoft.com/office/drawing/2014/main" id="{82D93FFA-0FC4-EA76-18D9-CA9EDF69B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9856" y="634426"/>
            <a:ext cx="3786866" cy="3786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PARCRequest">
            <a:extLst>
              <a:ext uri="{FF2B5EF4-FFF2-40B4-BE49-F238E27FC236}">
                <a16:creationId xmlns:a16="http://schemas.microsoft.com/office/drawing/2014/main" id="{D621EEC5-0954-E02B-37FE-913EFC449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37" y="710347"/>
            <a:ext cx="4890258" cy="3207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F06EBCC-01C6-380B-D7AA-A112152AD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617" y="26210401"/>
            <a:ext cx="704078" cy="704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CFAF48-DF72-A89A-747A-74D5C2F0CC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55296" y="5711816"/>
            <a:ext cx="17190720" cy="1236376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5D42635-2992-B0C0-0A42-448B1DE4CC22}"/>
              </a:ext>
            </a:extLst>
          </p:cNvPr>
          <p:cNvSpPr/>
          <p:nvPr/>
        </p:nvSpPr>
        <p:spPr>
          <a:xfrm>
            <a:off x="231821" y="15863544"/>
            <a:ext cx="10515600" cy="9653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536" tIns="97536" rIns="97536" bIns="97536" rtlCol="0" anchor="t"/>
          <a:lstStyle/>
          <a:p>
            <a:pPr algn="ctr">
              <a:spcBef>
                <a:spcPts val="320"/>
              </a:spcBef>
              <a:spcAft>
                <a:spcPts val="320"/>
              </a:spcAft>
            </a:pPr>
            <a:r>
              <a:rPr lang="en-US" sz="4267" b="1" dirty="0">
                <a:solidFill>
                  <a:srgbClr val="124172"/>
                </a:solidFill>
              </a:rPr>
              <a:t>METHODS</a:t>
            </a:r>
          </a:p>
          <a:p>
            <a:pPr>
              <a:spcBef>
                <a:spcPts val="320"/>
              </a:spcBef>
              <a:spcAft>
                <a:spcPts val="320"/>
              </a:spcAft>
            </a:pPr>
            <a:r>
              <a:rPr lang="en-US" sz="4200" dirty="0">
                <a:solidFill>
                  <a:srgbClr val="124172"/>
                </a:solidFill>
              </a:rPr>
              <a:t> Adolescent Brain Cognitive Development Study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11,866 substance-naïve youth (48% female)</a:t>
            </a:r>
          </a:p>
          <a:p>
            <a:pPr marL="48772">
              <a:spcAft>
                <a:spcPts val="640"/>
              </a:spcAft>
              <a:buClr>
                <a:srgbClr val="124172"/>
              </a:buClr>
            </a:pPr>
            <a:endParaRPr lang="en-US" sz="4267" dirty="0">
              <a:solidFill>
                <a:srgbClr val="124172"/>
              </a:solidFill>
            </a:endParaRPr>
          </a:p>
          <a:p>
            <a:pPr marL="48772">
              <a:spcAft>
                <a:spcPts val="640"/>
              </a:spcAft>
              <a:buClr>
                <a:srgbClr val="124172"/>
              </a:buClr>
            </a:pPr>
            <a:r>
              <a:rPr lang="en-US" sz="4267" dirty="0">
                <a:solidFill>
                  <a:srgbClr val="124172"/>
                </a:solidFill>
              </a:rPr>
              <a:t> State Legalization Status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Restricted Use (No/Low THC) (n = 3,815)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Recreational Use Legal (n = 2,185)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Medical Use Legal (n = 5,866)</a:t>
            </a:r>
          </a:p>
          <a:p>
            <a:pPr>
              <a:spcBef>
                <a:spcPts val="320"/>
              </a:spcBef>
              <a:spcAft>
                <a:spcPts val="320"/>
              </a:spcAft>
            </a:pPr>
            <a:endParaRPr lang="en-US" sz="4267" dirty="0">
              <a:solidFill>
                <a:srgbClr val="124172"/>
              </a:solidFill>
            </a:endParaRPr>
          </a:p>
          <a:p>
            <a:pPr>
              <a:spcBef>
                <a:spcPts val="320"/>
              </a:spcBef>
              <a:spcAft>
                <a:spcPts val="320"/>
              </a:spcAft>
            </a:pPr>
            <a:r>
              <a:rPr lang="en-US" sz="4267" dirty="0">
                <a:solidFill>
                  <a:srgbClr val="124172"/>
                </a:solidFill>
              </a:rPr>
              <a:t> Analytical Plan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Linear mixed effects models were used with baseline age included as a confounder and participant family included as a random effect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Models were repeated in sex-specific samples</a:t>
            </a:r>
          </a:p>
          <a:p>
            <a:pPr marL="48772">
              <a:buClr>
                <a:srgbClr val="124172"/>
              </a:buClr>
            </a:pPr>
            <a:endParaRPr lang="en-US" sz="391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endParaRPr lang="en-US" sz="391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86CB37-3021-2A7F-6903-FCA33B5279C9}"/>
              </a:ext>
            </a:extLst>
          </p:cNvPr>
          <p:cNvSpPr/>
          <p:nvPr/>
        </p:nvSpPr>
        <p:spPr>
          <a:xfrm>
            <a:off x="32277504" y="18236459"/>
            <a:ext cx="11227001" cy="107422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536" tIns="97536" rIns="97536" bIns="97536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r>
              <a:rPr lang="en-US" sz="4267" b="1" dirty="0">
                <a:solidFill>
                  <a:srgbClr val="124172"/>
                </a:solidFill>
              </a:rPr>
              <a:t>SUMMARY OF RESULTS &amp; CONCLUSIONS</a:t>
            </a:r>
          </a:p>
          <a:p>
            <a:pPr marL="48771">
              <a:buClr>
                <a:srgbClr val="124172"/>
              </a:buClr>
            </a:pPr>
            <a:endParaRPr lang="en-US" sz="391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8771" algn="ctr">
              <a:buClr>
                <a:srgbClr val="124172"/>
              </a:buClr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Cannabis-legal states display more alcohol tolerant environments and earlier alcohol experimentation</a:t>
            </a:r>
          </a:p>
          <a:p>
            <a:pPr marL="791721" indent="-742950">
              <a:buClr>
                <a:srgbClr val="124172"/>
              </a:buClr>
              <a:buFont typeface="+mj-lt"/>
              <a:buAutoNum type="arabicPeriod"/>
            </a:pPr>
            <a:endParaRPr lang="en-US" sz="4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8771" algn="ctr">
              <a:buClr>
                <a:srgbClr val="124172"/>
              </a:buClr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Sex-specific trends are concerning as females who initiate drinking in early adolescence progress to heavy drinking at a faster rate than males</a:t>
            </a:r>
          </a:p>
          <a:p>
            <a:pPr marL="48771" algn="ctr">
              <a:buClr>
                <a:srgbClr val="124172"/>
              </a:buClr>
            </a:pPr>
            <a:endParaRPr lang="en-US" sz="391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8771" algn="ctr">
              <a:buClr>
                <a:srgbClr val="124172"/>
              </a:buClr>
            </a:pPr>
            <a:endParaRPr lang="en-US" sz="391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8771" algn="ctr">
              <a:buClr>
                <a:srgbClr val="124172"/>
              </a:buClr>
            </a:pPr>
            <a:r>
              <a:rPr lang="en-US" sz="4270" b="1" dirty="0">
                <a:solidFill>
                  <a:srgbClr val="124172"/>
                </a:solidFill>
              </a:rPr>
              <a:t>FUTURE DIRECTIONS</a:t>
            </a:r>
            <a:endParaRPr lang="en-US" sz="427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8771" algn="ctr">
              <a:buClr>
                <a:srgbClr val="124172"/>
              </a:buClr>
            </a:pPr>
            <a:endParaRPr lang="en-US" sz="391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8771" algn="ctr">
              <a:buClr>
                <a:srgbClr val="124172"/>
              </a:buClr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Understand 1) if shifts legalization status are causally related to shifts in alcohol use attitudes and </a:t>
            </a:r>
          </a:p>
          <a:p>
            <a:pPr marL="48771" algn="ctr">
              <a:buClr>
                <a:srgbClr val="124172"/>
              </a:buClr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2) if shifts in attitudes precede shifts in late adolescent/young adult alcohol use</a:t>
            </a:r>
          </a:p>
          <a:p>
            <a:pPr algn="ctr"/>
            <a:endParaRPr lang="en-US" sz="451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4DAC897-DCA8-A461-6B91-D3DF028BD30F}"/>
              </a:ext>
            </a:extLst>
          </p:cNvPr>
          <p:cNvSpPr/>
          <p:nvPr/>
        </p:nvSpPr>
        <p:spPr>
          <a:xfrm>
            <a:off x="11171484" y="5228686"/>
            <a:ext cx="19991268" cy="69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536" tIns="97536" rIns="97536" bIns="97536" rtlCol="0" anchor="t"/>
          <a:lstStyle/>
          <a:p>
            <a:pPr>
              <a:spcAft>
                <a:spcPts val="320"/>
              </a:spcAft>
            </a:pPr>
            <a:r>
              <a:rPr lang="en-US" sz="4267" b="1" dirty="0">
                <a:solidFill>
                  <a:srgbClr val="124172"/>
                </a:solidFill>
              </a:rPr>
              <a:t>Figure 1. Standardized Outcomes by Legalization Status </a:t>
            </a:r>
            <a:endParaRPr lang="en-US" sz="4267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DE18A2-A672-D62A-80D2-AA3153A2D035}"/>
              </a:ext>
            </a:extLst>
          </p:cNvPr>
          <p:cNvSpPr/>
          <p:nvPr/>
        </p:nvSpPr>
        <p:spPr>
          <a:xfrm>
            <a:off x="32277506" y="5202226"/>
            <a:ext cx="11227001" cy="128733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536" tIns="97536" rIns="97536" bIns="97536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kumimoji="0" lang="en-US" sz="4267" b="1" i="0" u="none" strike="noStrike" kern="1200" cap="none" spc="0" normalizeH="0" baseline="0" noProof="0" dirty="0">
              <a:ln>
                <a:noFill/>
              </a:ln>
              <a:solidFill>
                <a:srgbClr val="12417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kumimoji="0" lang="en-US" sz="4267" b="1" i="0" u="none" strike="noStrike" kern="1200" cap="none" spc="0" normalizeH="0" baseline="0" noProof="0" dirty="0">
              <a:ln>
                <a:noFill/>
              </a:ln>
              <a:solidFill>
                <a:srgbClr val="12417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lang="en-US" sz="4267" b="1" dirty="0">
              <a:solidFill>
                <a:srgbClr val="124172"/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kumimoji="0" lang="en-US" sz="4267" b="1" i="0" u="none" strike="noStrike" kern="1200" cap="none" spc="0" normalizeH="0" baseline="0" noProof="0" dirty="0">
              <a:ln>
                <a:noFill/>
              </a:ln>
              <a:solidFill>
                <a:srgbClr val="12417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lang="en-US" sz="4267" b="1" dirty="0">
              <a:solidFill>
                <a:srgbClr val="124172"/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kumimoji="0" lang="en-US" sz="4267" b="1" i="0" u="none" strike="noStrike" kern="1200" cap="none" spc="0" normalizeH="0" baseline="0" noProof="0" dirty="0">
              <a:ln>
                <a:noFill/>
              </a:ln>
              <a:solidFill>
                <a:srgbClr val="12417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lang="en-US" sz="4267" b="1" dirty="0">
              <a:solidFill>
                <a:srgbClr val="124172"/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kumimoji="0" lang="en-US" sz="4267" b="1" i="0" u="none" strike="noStrike" kern="1200" cap="none" spc="0" normalizeH="0" baseline="0" noProof="0" dirty="0">
              <a:ln>
                <a:noFill/>
              </a:ln>
              <a:solidFill>
                <a:srgbClr val="12417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lang="en-US" sz="4267" b="1" dirty="0">
              <a:solidFill>
                <a:srgbClr val="124172"/>
              </a:solidFill>
              <a:latin typeface="Calibri" panose="020F0502020204030204"/>
            </a:endParaRPr>
          </a:p>
          <a:p>
            <a:pPr marL="48771">
              <a:buClr>
                <a:srgbClr val="124172"/>
              </a:buClr>
            </a:pPr>
            <a:endParaRPr lang="en-US" sz="391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451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6E9D384-DEA8-365C-6CDE-ECFD4F83F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563271"/>
              </p:ext>
            </p:extLst>
          </p:nvPr>
        </p:nvGraphicFramePr>
        <p:xfrm>
          <a:off x="32424584" y="5935900"/>
          <a:ext cx="10932843" cy="1203049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385632">
                  <a:extLst>
                    <a:ext uri="{9D8B030D-6E8A-4147-A177-3AD203B41FA5}">
                      <a16:colId xmlns:a16="http://schemas.microsoft.com/office/drawing/2014/main" val="3358210123"/>
                    </a:ext>
                  </a:extLst>
                </a:gridCol>
                <a:gridCol w="2552131">
                  <a:extLst>
                    <a:ext uri="{9D8B030D-6E8A-4147-A177-3AD203B41FA5}">
                      <a16:colId xmlns:a16="http://schemas.microsoft.com/office/drawing/2014/main" val="2704306421"/>
                    </a:ext>
                  </a:extLst>
                </a:gridCol>
                <a:gridCol w="2579426">
                  <a:extLst>
                    <a:ext uri="{9D8B030D-6E8A-4147-A177-3AD203B41FA5}">
                      <a16:colId xmlns:a16="http://schemas.microsoft.com/office/drawing/2014/main" val="4172523742"/>
                    </a:ext>
                  </a:extLst>
                </a:gridCol>
                <a:gridCol w="2415654">
                  <a:extLst>
                    <a:ext uri="{9D8B030D-6E8A-4147-A177-3AD203B41FA5}">
                      <a16:colId xmlns:a16="http://schemas.microsoft.com/office/drawing/2014/main" val="854186768"/>
                    </a:ext>
                  </a:extLst>
                </a:gridCol>
              </a:tblGrid>
              <a:tr h="46822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</a:rPr>
                        <a:t>Characteristic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</a:rPr>
                        <a:t>Restricted </a:t>
                      </a:r>
                    </a:p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</a:rPr>
                        <a:t>Cannabis Use</a:t>
                      </a:r>
                    </a:p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</a:rPr>
                        <a:t>(n = 2,185)</a:t>
                      </a: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</a:rPr>
                        <a:t>Recreational Cannabis Use</a:t>
                      </a:r>
                    </a:p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</a:rPr>
                        <a:t>(n = 2,185)</a:t>
                      </a: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</a:rPr>
                        <a:t>Medical</a:t>
                      </a:r>
                    </a:p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</a:rPr>
                        <a:t>Cannabis Use</a:t>
                      </a:r>
                    </a:p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</a:rPr>
                        <a:t>(n = 5,866)</a:t>
                      </a: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7484509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 dirty="0">
                          <a:effectLst/>
                        </a:rPr>
                        <a:t>Sex at Birth (F)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</a:rPr>
                        <a:t>1,824 (47.8%)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1,079 (49.4%)</a:t>
                      </a: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</a:rPr>
                        <a:t>2,773 (47.3%)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9323793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 dirty="0">
                          <a:effectLst/>
                        </a:rPr>
                        <a:t>Baseline Age (Years)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9014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dirty="0">
                          <a:effectLst/>
                        </a:rPr>
                        <a:t>9.99 (0.61)</a:t>
                      </a:r>
                    </a:p>
                    <a:p>
                      <a:pPr marL="0" marR="0" lvl="0" indent="0" algn="ctr" defTabSz="39014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dirty="0">
                          <a:effectLst/>
                        </a:rPr>
                        <a:t>[9.0 – 11.0]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9014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dirty="0">
                          <a:effectLst/>
                        </a:rPr>
                        <a:t>9.97 (0.64)</a:t>
                      </a:r>
                    </a:p>
                    <a:p>
                      <a:pPr marL="0" marR="0" lvl="0" indent="0" algn="ctr" defTabSz="39014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dirty="0">
                          <a:effectLst/>
                        </a:rPr>
                        <a:t>[9.0 – 11.1]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9014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dirty="0">
                          <a:effectLst/>
                        </a:rPr>
                        <a:t>9.93 (0.63)</a:t>
                      </a:r>
                    </a:p>
                    <a:p>
                      <a:pPr marL="0" marR="0" lvl="0" indent="0" algn="ctr" defTabSz="39014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dirty="0">
                          <a:effectLst/>
                        </a:rPr>
                        <a:t>[8.3 – 11.3]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789135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 dirty="0">
                          <a:effectLst/>
                        </a:rPr>
                        <a:t>Parental Education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19712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>
                          <a:effectLst/>
                        </a:rPr>
                        <a:t>    &lt; HS Diploma</a:t>
                      </a: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106 (2.8%)</a:t>
                      </a: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137 (6.3%)</a:t>
                      </a: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352 (6.0%)</a:t>
                      </a: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4984961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>
                          <a:effectLst/>
                        </a:rPr>
                        <a:t>    HS Diploma/GED</a:t>
                      </a: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321 (8.4%)</a:t>
                      </a: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164 (7.5%)</a:t>
                      </a: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650 (11.1%)</a:t>
                      </a: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2177338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>
                          <a:effectLst/>
                        </a:rPr>
                        <a:t>    Some College</a:t>
                      </a: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1110 (29.1%)</a:t>
                      </a: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463 (21.2%)</a:t>
                      </a: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1505 (25.7%)</a:t>
                      </a: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241652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>
                          <a:effectLst/>
                        </a:rPr>
                        <a:t>    Bachelor</a:t>
                      </a: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1090 (28.6%)</a:t>
                      </a: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597 (27.3%)</a:t>
                      </a: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1329 (22.7%)</a:t>
                      </a: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7859633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 dirty="0">
                          <a:effectLst/>
                        </a:rPr>
                        <a:t>    Postgraduate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1188 (31.1%)</a:t>
                      </a: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824 (37.7%)</a:t>
                      </a: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2030 (34.6%)</a:t>
                      </a: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820771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 dirty="0">
                          <a:effectLst/>
                        </a:rPr>
                        <a:t>Household Income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1920558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>
                          <a:effectLst/>
                        </a:rPr>
                        <a:t>    [&lt;50K]</a:t>
                      </a: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1173 (30.7%)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540 (24.7%)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2034 (34.7%)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307446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>
                          <a:effectLst/>
                        </a:rPr>
                        <a:t>    [&gt;=50K &amp; &lt;100K]</a:t>
                      </a: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1263 (33.1%)</a:t>
                      </a: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576 (26.4%)</a:t>
                      </a: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1482 (25.3%)</a:t>
                      </a: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1528133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 dirty="0">
                          <a:effectLst/>
                        </a:rPr>
                        <a:t>    [&gt;=100K]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1379 (36.1%)</a:t>
                      </a: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1069 (48.9%)</a:t>
                      </a: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2350 (40.1%)</a:t>
                      </a: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5877701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4134902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 dirty="0">
                          <a:effectLst/>
                        </a:rPr>
                        <a:t>Alcohol Use Rates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313 (8.2%)</a:t>
                      </a: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233 (10.7%)</a:t>
                      </a: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448 (7.6%)</a:t>
                      </a: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74252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Age of Alcohol Initiation</a:t>
                      </a: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14.8 (0.93)</a:t>
                      </a:r>
                    </a:p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[11.2 </a:t>
                      </a:r>
                      <a:r>
                        <a:rPr lang="en-US" sz="3000" dirty="0">
                          <a:effectLst/>
                        </a:rPr>
                        <a:t>– </a:t>
                      </a: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16.0]</a:t>
                      </a: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 (1.00)</a:t>
                      </a:r>
                    </a:p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[11.3 </a:t>
                      </a:r>
                      <a:r>
                        <a:rPr lang="en-US" sz="3000" dirty="0">
                          <a:effectLst/>
                        </a:rPr>
                        <a:t>– </a:t>
                      </a: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16.0]</a:t>
                      </a: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14.7 (1.02)</a:t>
                      </a:r>
                    </a:p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[10.0 </a:t>
                      </a:r>
                      <a:r>
                        <a:rPr lang="en-US" sz="3000" dirty="0">
                          <a:effectLst/>
                        </a:rPr>
                        <a:t>– </a:t>
                      </a: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16.0]</a:t>
                      </a: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940054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Perceived Substance Availability</a:t>
                      </a: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1.29 (1.93)</a:t>
                      </a:r>
                    </a:p>
                    <a:p>
                      <a:pPr algn="ctr"/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[0</a:t>
                      </a: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dirty="0">
                          <a:effectLst/>
                        </a:rPr>
                        <a:t>– </a:t>
                      </a:r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15.0]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1.82 (2.38)</a:t>
                      </a:r>
                    </a:p>
                    <a:p>
                      <a:pPr algn="ctr"/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[0</a:t>
                      </a: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dirty="0">
                          <a:effectLst/>
                        </a:rPr>
                        <a:t>– </a:t>
                      </a:r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15.0]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1.39 (2.00)</a:t>
                      </a:r>
                    </a:p>
                    <a:p>
                      <a:pPr algn="ctr"/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[0</a:t>
                      </a: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dirty="0">
                          <a:effectLst/>
                        </a:rPr>
                        <a:t>– </a:t>
                      </a:r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15.0]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002243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Alcohol Positive Expectancies</a:t>
                      </a: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4.89 (2.28)</a:t>
                      </a:r>
                    </a:p>
                    <a:p>
                      <a:pPr algn="ctr"/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[3</a:t>
                      </a: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dirty="0">
                          <a:effectLst/>
                        </a:rPr>
                        <a:t>– </a:t>
                      </a:r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15]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5.16 (2.30)</a:t>
                      </a:r>
                    </a:p>
                    <a:p>
                      <a:pPr algn="ctr"/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[3</a:t>
                      </a: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dirty="0">
                          <a:effectLst/>
                        </a:rPr>
                        <a:t>– </a:t>
                      </a:r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15]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5.10 (2.31)</a:t>
                      </a:r>
                    </a:p>
                    <a:p>
                      <a:pPr algn="ctr"/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[3</a:t>
                      </a: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dirty="0">
                          <a:effectLst/>
                        </a:rPr>
                        <a:t>– </a:t>
                      </a:r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15]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834477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Alcohol Negative Expectancies</a:t>
                      </a: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12.1 (3.16)</a:t>
                      </a:r>
                    </a:p>
                    <a:p>
                      <a:pPr algn="ctr"/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[3</a:t>
                      </a: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dirty="0">
                          <a:effectLst/>
                        </a:rPr>
                        <a:t>– </a:t>
                      </a:r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15]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12.1 (2.94)</a:t>
                      </a:r>
                    </a:p>
                    <a:p>
                      <a:pPr algn="ctr"/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[3</a:t>
                      </a: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dirty="0">
                          <a:effectLst/>
                        </a:rPr>
                        <a:t>– </a:t>
                      </a:r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15]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12.0 (3.07)</a:t>
                      </a:r>
                    </a:p>
                    <a:p>
                      <a:pPr algn="ctr"/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[3</a:t>
                      </a:r>
                      <a:r>
                        <a:rPr lang="en-US" sz="3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dirty="0">
                          <a:effectLst/>
                        </a:rPr>
                        <a:t>– </a:t>
                      </a:r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15]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6697387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3B0002A0-E454-0F18-673E-EEFD8C34DBF3}"/>
              </a:ext>
            </a:extLst>
          </p:cNvPr>
          <p:cNvSpPr/>
          <p:nvPr/>
        </p:nvSpPr>
        <p:spPr>
          <a:xfrm>
            <a:off x="32424584" y="5157752"/>
            <a:ext cx="7631368" cy="672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536" tIns="97536" rIns="97536" bIns="97536" rtlCol="0" anchor="t"/>
          <a:lstStyle/>
          <a:p>
            <a:pPr>
              <a:spcAft>
                <a:spcPts val="320"/>
              </a:spcAft>
            </a:pPr>
            <a:r>
              <a:rPr lang="en-US" sz="4267" b="1" dirty="0">
                <a:solidFill>
                  <a:srgbClr val="124172"/>
                </a:solidFill>
              </a:rPr>
              <a:t>Table 1. Sample Characteristics</a:t>
            </a:r>
            <a:endParaRPr lang="en-US" sz="4267" dirty="0"/>
          </a:p>
        </p:txBody>
      </p:sp>
    </p:spTree>
    <p:extLst>
      <p:ext uri="{BB962C8B-B14F-4D97-AF65-F5344CB8AC3E}">
        <p14:creationId xmlns:p14="http://schemas.microsoft.com/office/powerpoint/2010/main" val="3637587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A4423-1693-5954-E223-98846A527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tangle 290">
            <a:extLst>
              <a:ext uri="{FF2B5EF4-FFF2-40B4-BE49-F238E27FC236}">
                <a16:creationId xmlns:a16="http://schemas.microsoft.com/office/drawing/2014/main" id="{D2F9EA03-86ED-C411-A996-21AF0B9E902B}"/>
              </a:ext>
            </a:extLst>
          </p:cNvPr>
          <p:cNvSpPr/>
          <p:nvPr/>
        </p:nvSpPr>
        <p:spPr>
          <a:xfrm>
            <a:off x="11045414" y="5202225"/>
            <a:ext cx="20983074" cy="237781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43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244C927-74D8-C517-8842-EF6E11CA8E0F}"/>
              </a:ext>
            </a:extLst>
          </p:cNvPr>
          <p:cNvSpPr/>
          <p:nvPr/>
        </p:nvSpPr>
        <p:spPr>
          <a:xfrm>
            <a:off x="11171484" y="5228686"/>
            <a:ext cx="19991268" cy="69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536" tIns="97536" rIns="97536" bIns="97536" rtlCol="0" anchor="t"/>
          <a:lstStyle/>
          <a:p>
            <a:pPr>
              <a:spcAft>
                <a:spcPts val="320"/>
              </a:spcAft>
            </a:pPr>
            <a:r>
              <a:rPr lang="en-US" sz="4267" b="1" dirty="0">
                <a:solidFill>
                  <a:srgbClr val="124172"/>
                </a:solidFill>
              </a:rPr>
              <a:t>Figure 1. Standardized Outcomes by Legalization Status </a:t>
            </a:r>
            <a:endParaRPr lang="en-US" sz="4267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5011CF-1344-DDA3-8F37-04357BD8844F}"/>
              </a:ext>
            </a:extLst>
          </p:cNvPr>
          <p:cNvSpPr/>
          <p:nvPr/>
        </p:nvSpPr>
        <p:spPr>
          <a:xfrm>
            <a:off x="231822" y="5202225"/>
            <a:ext cx="10515600" cy="100499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536" tIns="97536" rIns="97536" bIns="97536" rtlCol="0" anchor="t"/>
          <a:lstStyle/>
          <a:p>
            <a:pPr algn="ctr">
              <a:spcBef>
                <a:spcPts val="320"/>
              </a:spcBef>
              <a:spcAft>
                <a:spcPts val="320"/>
              </a:spcAft>
            </a:pPr>
            <a:r>
              <a:rPr lang="en-US" sz="4267" b="1" dirty="0">
                <a:solidFill>
                  <a:srgbClr val="124172"/>
                </a:solidFill>
              </a:rPr>
              <a:t> INTRODUCTION</a:t>
            </a:r>
            <a:endParaRPr lang="en-US" sz="4267" dirty="0">
              <a:solidFill>
                <a:srgbClr val="124172"/>
              </a:solidFill>
            </a:endParaRP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Over the past two decades, state-level cannabis legalization status has been in flux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Many studies have focused on the impact of cannabis legalization on cannabis use; however, less is known about the indirect effects on other substance use, including alcohol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Little is known how policies differentially affect male vs. female youth</a:t>
            </a:r>
          </a:p>
          <a:p>
            <a:pPr marL="48771">
              <a:buClr>
                <a:srgbClr val="124172"/>
              </a:buClr>
            </a:pP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just">
              <a:spcBef>
                <a:spcPts val="320"/>
              </a:spcBef>
              <a:spcAft>
                <a:spcPts val="320"/>
              </a:spcAft>
            </a:pPr>
            <a:endParaRPr lang="en-US" sz="4089" b="1" u="sng" dirty="0">
              <a:solidFill>
                <a:srgbClr val="124172"/>
              </a:solidFill>
            </a:endParaRPr>
          </a:p>
          <a:p>
            <a:pPr algn="just">
              <a:spcBef>
                <a:spcPts val="320"/>
              </a:spcBef>
              <a:spcAft>
                <a:spcPts val="320"/>
              </a:spcAft>
            </a:pPr>
            <a:r>
              <a:rPr lang="en-US" sz="4089" b="1" u="sng" dirty="0">
                <a:solidFill>
                  <a:srgbClr val="124172"/>
                </a:solidFill>
              </a:rPr>
              <a:t>Objectives:</a:t>
            </a:r>
          </a:p>
          <a:p>
            <a:pPr algn="just">
              <a:spcBef>
                <a:spcPts val="320"/>
              </a:spcBef>
              <a:spcAft>
                <a:spcPts val="320"/>
              </a:spcAft>
            </a:pPr>
            <a:r>
              <a:rPr lang="en-US" sz="4089" b="1" dirty="0">
                <a:solidFill>
                  <a:srgbClr val="124172"/>
                </a:solidFill>
              </a:rPr>
              <a:t>1) Characterize differences in rates of alcohol use and related risk factors between states with different cannabis legalization</a:t>
            </a:r>
          </a:p>
          <a:p>
            <a:pPr algn="just">
              <a:spcBef>
                <a:spcPts val="320"/>
              </a:spcBef>
              <a:spcAft>
                <a:spcPts val="320"/>
              </a:spcAft>
            </a:pPr>
            <a:r>
              <a:rPr lang="en-US" sz="4089" b="1" dirty="0">
                <a:solidFill>
                  <a:srgbClr val="124172"/>
                </a:solidFill>
              </a:rPr>
              <a:t>2) Stratify by sex</a:t>
            </a:r>
            <a:endParaRPr lang="en-US" sz="391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endParaRPr lang="en-US" sz="391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Flowchart: Process 26">
            <a:extLst>
              <a:ext uri="{FF2B5EF4-FFF2-40B4-BE49-F238E27FC236}">
                <a16:creationId xmlns:a16="http://schemas.microsoft.com/office/drawing/2014/main" id="{F020B750-13EF-3DA4-39A0-C95236BD0710}"/>
              </a:ext>
            </a:extLst>
          </p:cNvPr>
          <p:cNvSpPr/>
          <p:nvPr/>
        </p:nvSpPr>
        <p:spPr>
          <a:xfrm>
            <a:off x="231823" y="280412"/>
            <a:ext cx="43295756" cy="4571094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5"/>
          </a:p>
        </p:txBody>
      </p:sp>
      <p:sp>
        <p:nvSpPr>
          <p:cNvPr id="33" name="Content Placeholder 5">
            <a:extLst>
              <a:ext uri="{FF2B5EF4-FFF2-40B4-BE49-F238E27FC236}">
                <a16:creationId xmlns:a16="http://schemas.microsoft.com/office/drawing/2014/main" id="{94C406ED-3FD9-CCDD-8BBB-E278CCAB4BF9}"/>
              </a:ext>
            </a:extLst>
          </p:cNvPr>
          <p:cNvSpPr txBox="1">
            <a:spLocks/>
          </p:cNvSpPr>
          <p:nvPr/>
        </p:nvSpPr>
        <p:spPr>
          <a:xfrm>
            <a:off x="6500116" y="620389"/>
            <a:ext cx="31218884" cy="2712730"/>
          </a:xfrm>
          <a:prstGeom prst="rect">
            <a:avLst/>
          </a:prstGeom>
        </p:spPr>
        <p:txBody>
          <a:bodyPr>
            <a:noAutofit/>
          </a:bodyPr>
          <a:lstStyle>
            <a:lvl1pPr marL="1097280" indent="-1097280" algn="l" defTabSz="4389120" rtl="0" eaLnBrk="1" latinLnBrk="0" hangingPunct="1">
              <a:lnSpc>
                <a:spcPct val="90000"/>
              </a:lnSpc>
              <a:spcBef>
                <a:spcPts val="4800"/>
              </a:spcBef>
              <a:buFont typeface="Arial" panose="020B0604020202020204" pitchFamily="34" charset="0"/>
              <a:buChar char="•"/>
              <a:defRPr sz="13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918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11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9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52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92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7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356" b="1" dirty="0">
                <a:solidFill>
                  <a:srgbClr val="124172"/>
                </a:solidFill>
                <a:cs typeface="Calibri Light" panose="020F0302020204030204" pitchFamily="34" charset="0"/>
              </a:rPr>
              <a:t>State Differences in Adolescent Alcohol Use and Related-Risk Factors: An Investigation of the Impact of Cannabis Legalization Policies</a:t>
            </a:r>
          </a:p>
        </p:txBody>
      </p:sp>
      <p:sp>
        <p:nvSpPr>
          <p:cNvPr id="34" name="Content Placeholder 5">
            <a:extLst>
              <a:ext uri="{FF2B5EF4-FFF2-40B4-BE49-F238E27FC236}">
                <a16:creationId xmlns:a16="http://schemas.microsoft.com/office/drawing/2014/main" id="{CFD79A29-CE05-C27F-A34E-9145CCDA5204}"/>
              </a:ext>
            </a:extLst>
          </p:cNvPr>
          <p:cNvSpPr txBox="1">
            <a:spLocks/>
          </p:cNvSpPr>
          <p:nvPr/>
        </p:nvSpPr>
        <p:spPr>
          <a:xfrm>
            <a:off x="7160742" y="3439774"/>
            <a:ext cx="29569715" cy="1183788"/>
          </a:xfrm>
          <a:prstGeom prst="rect">
            <a:avLst/>
          </a:prstGeom>
        </p:spPr>
        <p:txBody>
          <a:bodyPr>
            <a:noAutofit/>
          </a:bodyPr>
          <a:lstStyle>
            <a:lvl1pPr marL="1097280" indent="-1097280" algn="l" defTabSz="4389120" rtl="0" eaLnBrk="1" latinLnBrk="0" hangingPunct="1">
              <a:lnSpc>
                <a:spcPct val="90000"/>
              </a:lnSpc>
              <a:spcBef>
                <a:spcPts val="4800"/>
              </a:spcBef>
              <a:buFont typeface="Arial" panose="020B0604020202020204" pitchFamily="34" charset="0"/>
              <a:buChar char="•"/>
              <a:defRPr sz="13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918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11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9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52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92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7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Andrew Moore PhD, Kevin Gray, MD</a:t>
            </a:r>
            <a:endParaRPr lang="en-US" sz="4800" baseline="30000" dirty="0">
              <a:solidFill>
                <a:schemeClr val="tx1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Department of Psychiatry and Behavioral Sciences; Department of Neuroscience, Medical University of South Carolina</a:t>
            </a:r>
            <a:endParaRPr lang="en-US" sz="4800" baseline="30000" dirty="0">
              <a:solidFill>
                <a:schemeClr val="tx1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C422D47-E012-A250-C61E-1C7EB23A9D00}"/>
              </a:ext>
            </a:extLst>
          </p:cNvPr>
          <p:cNvSpPr/>
          <p:nvPr/>
        </p:nvSpPr>
        <p:spPr>
          <a:xfrm>
            <a:off x="231821" y="26128814"/>
            <a:ext cx="10515600" cy="2849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536" tIns="97536" rIns="97536" bIns="97536" rtlCol="0" anchor="t"/>
          <a:lstStyle/>
          <a:p>
            <a:pPr>
              <a:spcBef>
                <a:spcPts val="320"/>
              </a:spcBef>
              <a:spcAft>
                <a:spcPts val="320"/>
              </a:spcAft>
            </a:pPr>
            <a:r>
              <a:rPr lang="en-US" sz="4267" b="1" dirty="0">
                <a:solidFill>
                  <a:srgbClr val="124172"/>
                </a:solidFill>
              </a:rPr>
              <a:t> FUNDING &amp; SOCIALS</a:t>
            </a:r>
          </a:p>
          <a:p>
            <a:pPr>
              <a:spcBef>
                <a:spcPts val="320"/>
              </a:spcBef>
              <a:spcAft>
                <a:spcPts val="320"/>
              </a:spcAft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T32DA007288 (Moore)</a:t>
            </a:r>
          </a:p>
          <a:p>
            <a:pPr>
              <a:spcBef>
                <a:spcPts val="320"/>
              </a:spcBef>
              <a:spcAft>
                <a:spcPts val="320"/>
              </a:spcAft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@muscyouthcollab | @ajmoore27 | </a:t>
            </a:r>
          </a:p>
          <a:p>
            <a:pPr>
              <a:spcBef>
                <a:spcPts val="320"/>
              </a:spcBef>
              <a:spcAft>
                <a:spcPts val="320"/>
              </a:spcAft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mooreand@musc.edu</a:t>
            </a:r>
          </a:p>
        </p:txBody>
      </p:sp>
      <p:pic>
        <p:nvPicPr>
          <p:cNvPr id="1026" name="Picture 2" descr="Twitter new logo . Twitter icons. Twitter X logo 26839941 ...">
            <a:extLst>
              <a:ext uri="{FF2B5EF4-FFF2-40B4-BE49-F238E27FC236}">
                <a16:creationId xmlns:a16="http://schemas.microsoft.com/office/drawing/2014/main" id="{8304F747-DA4B-E9D8-A02A-D5E4081EBF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11" b="15069"/>
          <a:stretch/>
        </p:blipFill>
        <p:spPr bwMode="auto">
          <a:xfrm>
            <a:off x="5873783" y="26154141"/>
            <a:ext cx="1641517" cy="816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57E5AE91-B4CA-FA2A-3621-E3C3E6554693}"/>
              </a:ext>
            </a:extLst>
          </p:cNvPr>
          <p:cNvSpPr/>
          <p:nvPr/>
        </p:nvSpPr>
        <p:spPr>
          <a:xfrm>
            <a:off x="32277506" y="5202225"/>
            <a:ext cx="11381872" cy="17239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536" tIns="97536" rIns="97536" bIns="97536" rtlCol="0" anchor="t"/>
          <a:lstStyle/>
          <a:p>
            <a:pPr lvl="0" algn="ctr">
              <a:spcBef>
                <a:spcPts val="320"/>
              </a:spcBef>
              <a:spcAft>
                <a:spcPts val="320"/>
              </a:spcAft>
              <a:defRPr/>
            </a:pPr>
            <a:r>
              <a:rPr lang="en-US" sz="4267" b="1" dirty="0">
                <a:solidFill>
                  <a:srgbClr val="124172"/>
                </a:solidFill>
              </a:rPr>
              <a:t>RESULTS</a:t>
            </a:r>
          </a:p>
          <a:p>
            <a:pPr lvl="0">
              <a:spcBef>
                <a:spcPts val="320"/>
              </a:spcBef>
              <a:spcAft>
                <a:spcPts val="320"/>
              </a:spcAft>
              <a:defRPr/>
            </a:pPr>
            <a:endParaRPr lang="en-US" sz="4267" b="1" dirty="0">
              <a:solidFill>
                <a:srgbClr val="124172"/>
              </a:solidFill>
            </a:endParaRPr>
          </a:p>
          <a:p>
            <a:pPr lvl="0">
              <a:spcBef>
                <a:spcPts val="320"/>
              </a:spcBef>
              <a:spcAft>
                <a:spcPts val="320"/>
              </a:spcAft>
              <a:defRPr/>
            </a:pPr>
            <a:r>
              <a:rPr lang="en-US" sz="4267" b="1" dirty="0">
                <a:solidFill>
                  <a:srgbClr val="124172"/>
                </a:solidFill>
              </a:rPr>
              <a:t>OVERALL</a:t>
            </a:r>
            <a:endParaRPr lang="en-US" sz="4267" dirty="0">
              <a:solidFill>
                <a:srgbClr val="124172"/>
              </a:solidFill>
            </a:endParaRPr>
          </a:p>
          <a:p>
            <a:pPr marL="556778" lvl="0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3911" dirty="0">
                <a:solidFill>
                  <a:prstClr val="black">
                    <a:lumMod val="85000"/>
                    <a:lumOff val="15000"/>
                  </a:prstClr>
                </a:solidFill>
              </a:rPr>
              <a:t>No differences in rates of alcohol use (p &gt; 0.800)</a:t>
            </a:r>
          </a:p>
          <a:p>
            <a:pPr marL="556778" lvl="0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3911" dirty="0">
                <a:solidFill>
                  <a:prstClr val="black">
                    <a:lumMod val="85000"/>
                    <a:lumOff val="15000"/>
                  </a:prstClr>
                </a:solidFill>
              </a:rPr>
              <a:t>A trend towards lower age of alcohol initiation in Recreational States compared to Restricted</a:t>
            </a:r>
          </a:p>
          <a:p>
            <a:pPr marL="1013978" lvl="1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3911" dirty="0">
                <a:solidFill>
                  <a:prstClr val="black">
                    <a:lumMod val="85000"/>
                    <a:lumOff val="15000"/>
                  </a:prstClr>
                </a:solidFill>
              </a:rPr>
              <a:t>β = -0.168, p = 0.053</a:t>
            </a:r>
            <a:endParaRPr lang="en-US" sz="2667" b="1" dirty="0">
              <a:solidFill>
                <a:srgbClr val="124172"/>
              </a:solidFill>
            </a:endParaRPr>
          </a:p>
          <a:p>
            <a:pPr marL="556778" lvl="0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3911" dirty="0">
                <a:solidFill>
                  <a:prstClr val="black">
                    <a:lumMod val="85000"/>
                    <a:lumOff val="15000"/>
                  </a:prstClr>
                </a:solidFill>
              </a:rPr>
              <a:t>Higher rates of parent-reported perceived substance availability in both Recreational and Medical States</a:t>
            </a:r>
          </a:p>
          <a:p>
            <a:pPr marL="1013978" lvl="1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3911" dirty="0">
                <a:solidFill>
                  <a:prstClr val="black">
                    <a:lumMod val="85000"/>
                    <a:lumOff val="15000"/>
                  </a:prstClr>
                </a:solidFill>
              </a:rPr>
              <a:t>Recreational v Restricted- β = 0.262, p &lt; 0.001</a:t>
            </a:r>
          </a:p>
          <a:p>
            <a:pPr marL="1013978" lvl="1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3910" dirty="0">
                <a:solidFill>
                  <a:schemeClr val="tx1"/>
                </a:solidFill>
              </a:rPr>
              <a:t>Medical v Restricted- </a:t>
            </a:r>
            <a:r>
              <a:rPr lang="en-US" sz="3911" dirty="0">
                <a:solidFill>
                  <a:prstClr val="black">
                    <a:lumMod val="85000"/>
                    <a:lumOff val="15000"/>
                  </a:prstClr>
                </a:solidFill>
              </a:rPr>
              <a:t>β = 0.262, p = 0.006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3910" dirty="0">
                <a:solidFill>
                  <a:prstClr val="black">
                    <a:lumMod val="85000"/>
                    <a:lumOff val="15000"/>
                  </a:prstClr>
                </a:solidFill>
              </a:rPr>
              <a:t>Higher rates of youth-reported positive alcohol expectancies in Recreational and Medical States</a:t>
            </a:r>
          </a:p>
          <a:p>
            <a:pPr marL="1013978" lvl="1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3910" dirty="0">
                <a:solidFill>
                  <a:schemeClr val="tx1"/>
                </a:solidFill>
              </a:rPr>
              <a:t>Recreational v Restricted- </a:t>
            </a:r>
            <a:r>
              <a:rPr lang="en-US" sz="3911" dirty="0">
                <a:solidFill>
                  <a:prstClr val="black">
                    <a:lumMod val="85000"/>
                    <a:lumOff val="15000"/>
                  </a:prstClr>
                </a:solidFill>
              </a:rPr>
              <a:t>β = 0.112, p &lt; 0.001</a:t>
            </a:r>
          </a:p>
          <a:p>
            <a:pPr marL="1013978" lvl="1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3910" dirty="0">
                <a:solidFill>
                  <a:schemeClr val="tx1"/>
                </a:solidFill>
              </a:rPr>
              <a:t>Medical v Restricted- </a:t>
            </a:r>
            <a:r>
              <a:rPr lang="en-US" sz="3911" dirty="0">
                <a:solidFill>
                  <a:prstClr val="black">
                    <a:lumMod val="85000"/>
                    <a:lumOff val="15000"/>
                  </a:prstClr>
                </a:solidFill>
              </a:rPr>
              <a:t>β = 0.091, p &lt; 0.001</a:t>
            </a:r>
          </a:p>
          <a:p>
            <a:pPr marL="556778" lvl="0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3911" dirty="0">
                <a:solidFill>
                  <a:prstClr val="black">
                    <a:lumMod val="85000"/>
                    <a:lumOff val="15000"/>
                  </a:prstClr>
                </a:solidFill>
              </a:rPr>
              <a:t>A trend towards lower negative alcohol expectancies in Medical States compared to Restricted</a:t>
            </a:r>
          </a:p>
          <a:p>
            <a:pPr marL="1013978" lvl="1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3911" dirty="0">
                <a:solidFill>
                  <a:prstClr val="black">
                    <a:lumMod val="85000"/>
                    <a:lumOff val="15000"/>
                  </a:prstClr>
                </a:solidFill>
              </a:rPr>
              <a:t>β = -0.040, p = 0.060</a:t>
            </a:r>
          </a:p>
          <a:p>
            <a:pPr lvl="0">
              <a:spcBef>
                <a:spcPts val="320"/>
              </a:spcBef>
              <a:spcAft>
                <a:spcPts val="320"/>
              </a:spcAft>
              <a:defRPr/>
            </a:pPr>
            <a:endParaRPr lang="en-US" sz="4267" b="1" dirty="0">
              <a:solidFill>
                <a:srgbClr val="124172"/>
              </a:solidFill>
            </a:endParaRPr>
          </a:p>
          <a:p>
            <a:pPr lvl="0">
              <a:spcBef>
                <a:spcPts val="320"/>
              </a:spcBef>
              <a:spcAft>
                <a:spcPts val="320"/>
              </a:spcAft>
              <a:defRPr/>
            </a:pPr>
            <a:r>
              <a:rPr lang="en-US" sz="4267" b="1" dirty="0">
                <a:solidFill>
                  <a:srgbClr val="124172"/>
                </a:solidFill>
              </a:rPr>
              <a:t>SEX-SPECIFIC</a:t>
            </a:r>
            <a:endParaRPr lang="en-US" sz="4267" dirty="0">
              <a:solidFill>
                <a:srgbClr val="124172"/>
              </a:solidFill>
            </a:endParaRPr>
          </a:p>
          <a:p>
            <a:pPr marL="556778" lvl="0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3911" dirty="0">
                <a:solidFill>
                  <a:prstClr val="black">
                    <a:lumMod val="85000"/>
                    <a:lumOff val="15000"/>
                  </a:prstClr>
                </a:solidFill>
              </a:rPr>
              <a:t>Females initiated alcohol use at an earlier age in Recreational States compared to Restricted</a:t>
            </a:r>
          </a:p>
          <a:p>
            <a:pPr marL="1013978" lvl="1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3911" dirty="0">
                <a:solidFill>
                  <a:prstClr val="black">
                    <a:lumMod val="85000"/>
                    <a:lumOff val="15000"/>
                  </a:prstClr>
                </a:solidFill>
              </a:rPr>
              <a:t>β = -0.237, p = 0.045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3911" dirty="0">
                <a:solidFill>
                  <a:prstClr val="black">
                    <a:lumMod val="85000"/>
                    <a:lumOff val="15000"/>
                  </a:prstClr>
                </a:solidFill>
              </a:rPr>
              <a:t>While females continued to show a trend towards lower negative alcohol expectancies in Medical States compared to Restricted (β = -0.059,p = 0.064), males did not (p = 0.410)</a:t>
            </a:r>
            <a:endParaRPr lang="en-US" sz="451" dirty="0"/>
          </a:p>
        </p:txBody>
      </p:sp>
      <p:pic>
        <p:nvPicPr>
          <p:cNvPr id="3" name="Picture 4" descr="MUSC Collaborative: Youth Psychiatry | MUSC Health | Charleston SC">
            <a:extLst>
              <a:ext uri="{FF2B5EF4-FFF2-40B4-BE49-F238E27FC236}">
                <a16:creationId xmlns:a16="http://schemas.microsoft.com/office/drawing/2014/main" id="{F251245A-ACD8-2336-7B81-8B9F36495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9856" y="634426"/>
            <a:ext cx="3786866" cy="3786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PARCRequest">
            <a:extLst>
              <a:ext uri="{FF2B5EF4-FFF2-40B4-BE49-F238E27FC236}">
                <a16:creationId xmlns:a16="http://schemas.microsoft.com/office/drawing/2014/main" id="{CE7F1C09-F4C4-7815-13F6-ADBA27293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37" y="710347"/>
            <a:ext cx="4890258" cy="3207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37F8BF6-654E-3CC3-061D-E141AF995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617" y="26210401"/>
            <a:ext cx="704078" cy="704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3C7149-2537-3449-8494-B9A4D9781B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55296" y="6054716"/>
            <a:ext cx="17190720" cy="1236376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22B5245-EF21-77D3-842F-670E6C014E75}"/>
              </a:ext>
            </a:extLst>
          </p:cNvPr>
          <p:cNvSpPr/>
          <p:nvPr/>
        </p:nvSpPr>
        <p:spPr>
          <a:xfrm>
            <a:off x="11171484" y="18561032"/>
            <a:ext cx="19991268" cy="69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536" tIns="97536" rIns="97536" bIns="97536" rtlCol="0" anchor="t"/>
          <a:lstStyle/>
          <a:p>
            <a:pPr>
              <a:spcAft>
                <a:spcPts val="320"/>
              </a:spcAft>
            </a:pPr>
            <a:r>
              <a:rPr lang="en-US" sz="4267" b="1" dirty="0">
                <a:solidFill>
                  <a:srgbClr val="124172"/>
                </a:solidFill>
              </a:rPr>
              <a:t>Table 1. Alcohol Use by Legalization Status</a:t>
            </a:r>
            <a:endParaRPr lang="en-US" sz="4267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FD03A3-8BCD-678C-F8A4-7DB02F67C19B}"/>
              </a:ext>
            </a:extLst>
          </p:cNvPr>
          <p:cNvSpPr/>
          <p:nvPr/>
        </p:nvSpPr>
        <p:spPr>
          <a:xfrm>
            <a:off x="231822" y="15729826"/>
            <a:ext cx="10515600" cy="9653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536" tIns="97536" rIns="97536" bIns="97536" rtlCol="0" anchor="t"/>
          <a:lstStyle/>
          <a:p>
            <a:pPr algn="ctr">
              <a:spcBef>
                <a:spcPts val="320"/>
              </a:spcBef>
              <a:spcAft>
                <a:spcPts val="320"/>
              </a:spcAft>
            </a:pPr>
            <a:r>
              <a:rPr lang="en-US" sz="4267" b="1" dirty="0">
                <a:solidFill>
                  <a:srgbClr val="124172"/>
                </a:solidFill>
              </a:rPr>
              <a:t>METHODS</a:t>
            </a:r>
          </a:p>
          <a:p>
            <a:pPr>
              <a:spcBef>
                <a:spcPts val="320"/>
              </a:spcBef>
              <a:spcAft>
                <a:spcPts val="320"/>
              </a:spcAft>
            </a:pPr>
            <a:r>
              <a:rPr lang="en-US" sz="4200" dirty="0">
                <a:solidFill>
                  <a:srgbClr val="124172"/>
                </a:solidFill>
              </a:rPr>
              <a:t> Adolescent Brain Cognitive Development Study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11,866 substance-naïve youth (48% female)</a:t>
            </a:r>
          </a:p>
          <a:p>
            <a:pPr marL="48772">
              <a:spcAft>
                <a:spcPts val="640"/>
              </a:spcAft>
              <a:buClr>
                <a:srgbClr val="124172"/>
              </a:buClr>
            </a:pPr>
            <a:endParaRPr lang="en-US" sz="4267" dirty="0">
              <a:solidFill>
                <a:srgbClr val="124172"/>
              </a:solidFill>
            </a:endParaRPr>
          </a:p>
          <a:p>
            <a:pPr marL="48772">
              <a:spcAft>
                <a:spcPts val="640"/>
              </a:spcAft>
              <a:buClr>
                <a:srgbClr val="124172"/>
              </a:buClr>
            </a:pPr>
            <a:r>
              <a:rPr lang="en-US" sz="4267" dirty="0">
                <a:solidFill>
                  <a:srgbClr val="124172"/>
                </a:solidFill>
              </a:rPr>
              <a:t> State Legalization Status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Recreational Use Legal (n = 2,185)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Medical Use Legal (n = 5,866)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Restricted Use (No/Low THC) (n = 3,815)</a:t>
            </a:r>
            <a:endParaRPr lang="en-US" sz="3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Bef>
                <a:spcPts val="320"/>
              </a:spcBef>
              <a:spcAft>
                <a:spcPts val="320"/>
              </a:spcAft>
            </a:pPr>
            <a:endParaRPr lang="en-US" sz="4267" dirty="0">
              <a:solidFill>
                <a:srgbClr val="124172"/>
              </a:solidFill>
            </a:endParaRPr>
          </a:p>
          <a:p>
            <a:pPr>
              <a:spcBef>
                <a:spcPts val="320"/>
              </a:spcBef>
              <a:spcAft>
                <a:spcPts val="320"/>
              </a:spcAft>
            </a:pPr>
            <a:r>
              <a:rPr lang="en-US" sz="4267" dirty="0">
                <a:solidFill>
                  <a:srgbClr val="124172"/>
                </a:solidFill>
              </a:rPr>
              <a:t> Analytical Plan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Linear mixed effects models were used with baseline age included as a confounder and participant family included as a random effect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Models were repeated in sex-specific samples</a:t>
            </a:r>
          </a:p>
          <a:p>
            <a:pPr marL="48772">
              <a:buClr>
                <a:srgbClr val="124172"/>
              </a:buClr>
            </a:pPr>
            <a:endParaRPr lang="en-US" sz="391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endParaRPr lang="en-US" sz="391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DC9F20-AE0A-201D-BCCD-8297CC049A31}"/>
              </a:ext>
            </a:extLst>
          </p:cNvPr>
          <p:cNvSpPr/>
          <p:nvPr/>
        </p:nvSpPr>
        <p:spPr>
          <a:xfrm>
            <a:off x="32326481" y="22872196"/>
            <a:ext cx="11381872" cy="61081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536" tIns="97536" rIns="97536" bIns="97536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r>
              <a:rPr lang="en-US" sz="4267" b="1" dirty="0">
                <a:solidFill>
                  <a:srgbClr val="124172"/>
                </a:solidFill>
              </a:rPr>
              <a:t>CONCLUSIONS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lang="en-US" sz="391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658379" indent="-609608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More substance tolerant environments and earlier substance experimentation in cannabis-legal states</a:t>
            </a:r>
          </a:p>
          <a:p>
            <a:pPr marL="658379" indent="-609608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Prevention-relevant sex-specific differences</a:t>
            </a:r>
          </a:p>
          <a:p>
            <a:pPr marL="658379" indent="-609608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Future work needed to understand if such environments might translate into differential risk for use later in adolescence/young adulthood.</a:t>
            </a:r>
          </a:p>
          <a:p>
            <a:pPr algn="ctr"/>
            <a:endParaRPr lang="en-US" sz="451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20C76FF-3C6F-09DA-FE17-29FEDB05EF2F}"/>
              </a:ext>
            </a:extLst>
          </p:cNvPr>
          <p:cNvGraphicFramePr>
            <a:graphicFrameLocks noGrp="1"/>
          </p:cNvGraphicFramePr>
          <p:nvPr/>
        </p:nvGraphicFramePr>
        <p:xfrm>
          <a:off x="12525756" y="19922644"/>
          <a:ext cx="17449800" cy="37856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62450">
                  <a:extLst>
                    <a:ext uri="{9D8B030D-6E8A-4147-A177-3AD203B41FA5}">
                      <a16:colId xmlns:a16="http://schemas.microsoft.com/office/drawing/2014/main" val="60212996"/>
                    </a:ext>
                  </a:extLst>
                </a:gridCol>
                <a:gridCol w="4362450">
                  <a:extLst>
                    <a:ext uri="{9D8B030D-6E8A-4147-A177-3AD203B41FA5}">
                      <a16:colId xmlns:a16="http://schemas.microsoft.com/office/drawing/2014/main" val="842380078"/>
                    </a:ext>
                  </a:extLst>
                </a:gridCol>
                <a:gridCol w="4362450">
                  <a:extLst>
                    <a:ext uri="{9D8B030D-6E8A-4147-A177-3AD203B41FA5}">
                      <a16:colId xmlns:a16="http://schemas.microsoft.com/office/drawing/2014/main" val="1885000204"/>
                    </a:ext>
                  </a:extLst>
                </a:gridCol>
                <a:gridCol w="4362450">
                  <a:extLst>
                    <a:ext uri="{9D8B030D-6E8A-4147-A177-3AD203B41FA5}">
                      <a16:colId xmlns:a16="http://schemas.microsoft.com/office/drawing/2014/main" val="17382844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9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408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741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9684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1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tangle 290">
            <a:extLst>
              <a:ext uri="{FF2B5EF4-FFF2-40B4-BE49-F238E27FC236}">
                <a16:creationId xmlns:a16="http://schemas.microsoft.com/office/drawing/2014/main" id="{1A2E4847-8E37-4BB4-BA91-8B0D0AE36C3F}"/>
              </a:ext>
            </a:extLst>
          </p:cNvPr>
          <p:cNvSpPr/>
          <p:nvPr/>
        </p:nvSpPr>
        <p:spPr>
          <a:xfrm>
            <a:off x="10948738" y="5202225"/>
            <a:ext cx="20983074" cy="237781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43" dirty="0"/>
          </a:p>
        </p:txBody>
      </p:sp>
      <p:sp>
        <p:nvSpPr>
          <p:cNvPr id="44" name="Rectangle 43"/>
          <p:cNvSpPr/>
          <p:nvPr/>
        </p:nvSpPr>
        <p:spPr>
          <a:xfrm>
            <a:off x="11171484" y="5228686"/>
            <a:ext cx="12134830" cy="731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536" tIns="97536" rIns="97536" bIns="97536" rtlCol="0" anchor="t"/>
          <a:lstStyle/>
          <a:p>
            <a:pPr>
              <a:spcAft>
                <a:spcPts val="320"/>
              </a:spcAft>
            </a:pPr>
            <a:r>
              <a:rPr lang="en-US" sz="4267" b="1" dirty="0">
                <a:solidFill>
                  <a:srgbClr val="124172"/>
                </a:solidFill>
              </a:rPr>
              <a:t>Figure 1.</a:t>
            </a:r>
            <a:endParaRPr lang="en-US" sz="4267" dirty="0"/>
          </a:p>
        </p:txBody>
      </p:sp>
      <p:sp>
        <p:nvSpPr>
          <p:cNvPr id="2" name="Rectangle 1"/>
          <p:cNvSpPr/>
          <p:nvPr/>
        </p:nvSpPr>
        <p:spPr>
          <a:xfrm>
            <a:off x="231822" y="5202225"/>
            <a:ext cx="10515600" cy="20629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536" tIns="97536" rIns="97536" bIns="97536" rtlCol="0" anchor="t"/>
          <a:lstStyle/>
          <a:p>
            <a:pPr>
              <a:spcBef>
                <a:spcPts val="320"/>
              </a:spcBef>
              <a:spcAft>
                <a:spcPts val="320"/>
              </a:spcAft>
            </a:pPr>
            <a:r>
              <a:rPr lang="en-US" sz="4267" b="1" dirty="0">
                <a:solidFill>
                  <a:srgbClr val="124172"/>
                </a:solidFill>
              </a:rPr>
              <a:t> INTRODUCTION</a:t>
            </a:r>
            <a:endParaRPr lang="en-US" sz="4267" dirty="0">
              <a:solidFill>
                <a:srgbClr val="124172"/>
              </a:solidFill>
            </a:endParaRP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Over the past two decades, state-level cannabis legalization status has been in flux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Many studies have focused on the impact of cannabis legalization on cannabis use; however, less is known about the indirect effects on other substance use, including alcohol</a:t>
            </a:r>
          </a:p>
          <a:p>
            <a:pPr marL="48771">
              <a:buClr>
                <a:srgbClr val="124172"/>
              </a:buClr>
            </a:pP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just">
              <a:spcBef>
                <a:spcPts val="320"/>
              </a:spcBef>
              <a:spcAft>
                <a:spcPts val="320"/>
              </a:spcAft>
            </a:pPr>
            <a:r>
              <a:rPr lang="en-US" sz="4089" b="1" u="sng" dirty="0">
                <a:solidFill>
                  <a:srgbClr val="124172"/>
                </a:solidFill>
              </a:rPr>
              <a:t>Objectives:</a:t>
            </a:r>
          </a:p>
          <a:p>
            <a:pPr algn="just">
              <a:spcBef>
                <a:spcPts val="320"/>
              </a:spcBef>
              <a:spcAft>
                <a:spcPts val="320"/>
              </a:spcAft>
            </a:pPr>
            <a:r>
              <a:rPr lang="en-US" sz="4089" b="1" dirty="0">
                <a:solidFill>
                  <a:srgbClr val="124172"/>
                </a:solidFill>
              </a:rPr>
              <a:t>1) Characterize differences in rates of alcohol use and related risk factors between states with different cannabis legalization</a:t>
            </a:r>
          </a:p>
          <a:p>
            <a:pPr algn="just">
              <a:spcBef>
                <a:spcPts val="320"/>
              </a:spcBef>
              <a:spcAft>
                <a:spcPts val="320"/>
              </a:spcAft>
            </a:pPr>
            <a:r>
              <a:rPr lang="en-US" sz="4089" b="1" dirty="0">
                <a:solidFill>
                  <a:srgbClr val="124172"/>
                </a:solidFill>
              </a:rPr>
              <a:t>2) Stratify by sex</a:t>
            </a:r>
          </a:p>
          <a:p>
            <a:pPr>
              <a:spcBef>
                <a:spcPts val="320"/>
              </a:spcBef>
              <a:spcAft>
                <a:spcPts val="320"/>
              </a:spcAft>
            </a:pPr>
            <a:endParaRPr lang="en-US" sz="1400" b="1" u="sng" dirty="0">
              <a:solidFill>
                <a:srgbClr val="124172"/>
              </a:solidFill>
            </a:endParaRPr>
          </a:p>
          <a:p>
            <a:pPr>
              <a:spcBef>
                <a:spcPts val="320"/>
              </a:spcBef>
              <a:spcAft>
                <a:spcPts val="320"/>
              </a:spcAft>
            </a:pPr>
            <a:r>
              <a:rPr lang="en-US" sz="4267" b="1" dirty="0">
                <a:solidFill>
                  <a:srgbClr val="124172"/>
                </a:solidFill>
              </a:rPr>
              <a:t> METHODS</a:t>
            </a:r>
            <a:br>
              <a:rPr lang="en-US" sz="4267" dirty="0">
                <a:solidFill>
                  <a:srgbClr val="124172"/>
                </a:solidFill>
              </a:rPr>
            </a:br>
            <a:r>
              <a:rPr lang="en-US" sz="4267" dirty="0">
                <a:solidFill>
                  <a:srgbClr val="124172"/>
                </a:solidFill>
              </a:rPr>
              <a:t> </a:t>
            </a:r>
            <a:r>
              <a:rPr lang="en-US" sz="4178" dirty="0">
                <a:solidFill>
                  <a:srgbClr val="124172"/>
                </a:solidFill>
              </a:rPr>
              <a:t>Adolescent Brain Cognitive Development </a:t>
            </a:r>
          </a:p>
          <a:p>
            <a:pPr>
              <a:spcBef>
                <a:spcPts val="320"/>
              </a:spcBef>
              <a:spcAft>
                <a:spcPts val="320"/>
              </a:spcAft>
            </a:pPr>
            <a:r>
              <a:rPr lang="en-US" sz="4178" dirty="0">
                <a:solidFill>
                  <a:srgbClr val="124172"/>
                </a:solidFill>
              </a:rPr>
              <a:t> (ABCD) Study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11,694 substance-naïve youth (48% female)</a:t>
            </a:r>
          </a:p>
          <a:p>
            <a:pPr marL="48772">
              <a:spcAft>
                <a:spcPts val="640"/>
              </a:spcAft>
              <a:buClr>
                <a:srgbClr val="124172"/>
              </a:buClr>
            </a:pPr>
            <a:r>
              <a:rPr lang="en-US" sz="4267" dirty="0">
                <a:solidFill>
                  <a:srgbClr val="124172"/>
                </a:solidFill>
              </a:rPr>
              <a:t>State Legalization Status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Recreational Use Legal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Medical Use Legal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Restricted Use (No/Low THC + Illegal)</a:t>
            </a:r>
            <a:endParaRPr lang="en-US" sz="3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Bef>
                <a:spcPts val="320"/>
              </a:spcBef>
              <a:spcAft>
                <a:spcPts val="320"/>
              </a:spcAft>
            </a:pPr>
            <a:r>
              <a:rPr lang="en-US" sz="4267" dirty="0">
                <a:solidFill>
                  <a:srgbClr val="124172"/>
                </a:solidFill>
              </a:rPr>
              <a:t> Analytical Plan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Linear mixed effects models were used with baseline age included as a confounder and participant family included as a random effect</a:t>
            </a: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Models were repeated in sex-specific samples</a:t>
            </a:r>
          </a:p>
          <a:p>
            <a:pPr marL="48772">
              <a:buClr>
                <a:srgbClr val="124172"/>
              </a:buClr>
            </a:pPr>
            <a:endParaRPr lang="en-US" sz="391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556778" indent="-508006">
              <a:buClr>
                <a:srgbClr val="124172"/>
              </a:buClr>
              <a:buFont typeface="Wingdings" panose="05000000000000000000" pitchFamily="2" charset="2"/>
              <a:buChar char="§"/>
            </a:pPr>
            <a:endParaRPr lang="en-US" sz="391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Flowchart: Process 26"/>
          <p:cNvSpPr/>
          <p:nvPr/>
        </p:nvSpPr>
        <p:spPr>
          <a:xfrm>
            <a:off x="231823" y="280412"/>
            <a:ext cx="43295756" cy="4571094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5"/>
          </a:p>
        </p:txBody>
      </p:sp>
      <p:sp>
        <p:nvSpPr>
          <p:cNvPr id="33" name="Content Placeholder 5"/>
          <p:cNvSpPr txBox="1">
            <a:spLocks/>
          </p:cNvSpPr>
          <p:nvPr/>
        </p:nvSpPr>
        <p:spPr>
          <a:xfrm>
            <a:off x="6500116" y="620389"/>
            <a:ext cx="31218884" cy="2712730"/>
          </a:xfrm>
          <a:prstGeom prst="rect">
            <a:avLst/>
          </a:prstGeom>
        </p:spPr>
        <p:txBody>
          <a:bodyPr>
            <a:noAutofit/>
          </a:bodyPr>
          <a:lstStyle>
            <a:lvl1pPr marL="1097280" indent="-1097280" algn="l" defTabSz="4389120" rtl="0" eaLnBrk="1" latinLnBrk="0" hangingPunct="1">
              <a:lnSpc>
                <a:spcPct val="90000"/>
              </a:lnSpc>
              <a:spcBef>
                <a:spcPts val="4800"/>
              </a:spcBef>
              <a:buFont typeface="Arial" panose="020B0604020202020204" pitchFamily="34" charset="0"/>
              <a:buChar char="•"/>
              <a:defRPr sz="13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918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11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9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52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92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7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356" b="1" dirty="0">
                <a:solidFill>
                  <a:srgbClr val="124172"/>
                </a:solidFill>
                <a:cs typeface="Calibri Light" panose="020F0302020204030204" pitchFamily="34" charset="0"/>
              </a:rPr>
              <a:t>State Differences in Adolescent Alcohol Use and Related-Risk Factors: An Investigation of the Impact of Cannabis Legalization Policies</a:t>
            </a:r>
          </a:p>
        </p:txBody>
      </p:sp>
      <p:sp>
        <p:nvSpPr>
          <p:cNvPr id="34" name="Content Placeholder 5"/>
          <p:cNvSpPr txBox="1">
            <a:spLocks/>
          </p:cNvSpPr>
          <p:nvPr/>
        </p:nvSpPr>
        <p:spPr>
          <a:xfrm>
            <a:off x="7821370" y="3515007"/>
            <a:ext cx="28248461" cy="1183788"/>
          </a:xfrm>
          <a:prstGeom prst="rect">
            <a:avLst/>
          </a:prstGeom>
        </p:spPr>
        <p:txBody>
          <a:bodyPr>
            <a:noAutofit/>
          </a:bodyPr>
          <a:lstStyle>
            <a:lvl1pPr marL="1097280" indent="-1097280" algn="l" defTabSz="4389120" rtl="0" eaLnBrk="1" latinLnBrk="0" hangingPunct="1">
              <a:lnSpc>
                <a:spcPct val="90000"/>
              </a:lnSpc>
              <a:spcBef>
                <a:spcPts val="4800"/>
              </a:spcBef>
              <a:buFont typeface="Arial" panose="020B0604020202020204" pitchFamily="34" charset="0"/>
              <a:buChar char="•"/>
              <a:defRPr sz="13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918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11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9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52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92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7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445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Andrew Moore PhD, Kevin Gray, MD</a:t>
            </a:r>
            <a:endParaRPr lang="en-US" sz="4445" baseline="30000" dirty="0">
              <a:solidFill>
                <a:schemeClr val="tx1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4445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Department of Psychiatry and Behavioral Sciences and Neuroscience, Medical University of South Carolina</a:t>
            </a:r>
            <a:endParaRPr lang="en-US" sz="4445" baseline="30000" dirty="0">
              <a:solidFill>
                <a:schemeClr val="tx1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A1AD98F-81BC-4EF3-B0EA-C85E236FCA9B}"/>
              </a:ext>
            </a:extLst>
          </p:cNvPr>
          <p:cNvSpPr/>
          <p:nvPr/>
        </p:nvSpPr>
        <p:spPr>
          <a:xfrm>
            <a:off x="231822" y="26130512"/>
            <a:ext cx="10515600" cy="2849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536" tIns="97536" rIns="97536" bIns="97536" rtlCol="0" anchor="t"/>
          <a:lstStyle/>
          <a:p>
            <a:pPr>
              <a:spcBef>
                <a:spcPts val="320"/>
              </a:spcBef>
              <a:spcAft>
                <a:spcPts val="320"/>
              </a:spcAft>
            </a:pPr>
            <a:r>
              <a:rPr lang="en-US" sz="4267" b="1" dirty="0">
                <a:solidFill>
                  <a:srgbClr val="124172"/>
                </a:solidFill>
              </a:rPr>
              <a:t> FUNDING &amp; SOCIALS</a:t>
            </a:r>
          </a:p>
          <a:p>
            <a:pPr>
              <a:spcBef>
                <a:spcPts val="320"/>
              </a:spcBef>
              <a:spcAft>
                <a:spcPts val="320"/>
              </a:spcAft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T32DA007288 (Moore)</a:t>
            </a:r>
          </a:p>
          <a:p>
            <a:pPr>
              <a:spcBef>
                <a:spcPts val="320"/>
              </a:spcBef>
              <a:spcAft>
                <a:spcPts val="320"/>
              </a:spcAft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@muscyouthcollab | @ajmoore27 | </a:t>
            </a:r>
          </a:p>
          <a:p>
            <a:pPr>
              <a:spcBef>
                <a:spcPts val="320"/>
              </a:spcBef>
              <a:spcAft>
                <a:spcPts val="320"/>
              </a:spcAft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mooreand@musc.edu</a:t>
            </a:r>
          </a:p>
        </p:txBody>
      </p:sp>
      <p:pic>
        <p:nvPicPr>
          <p:cNvPr id="1026" name="Picture 2" descr="Twitter new logo . Twitter icons. Twitter X logo 26839941 ...">
            <a:extLst>
              <a:ext uri="{FF2B5EF4-FFF2-40B4-BE49-F238E27FC236}">
                <a16:creationId xmlns:a16="http://schemas.microsoft.com/office/drawing/2014/main" id="{8743CC35-1BEA-406A-9DE0-06142570C0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11" b="15069"/>
          <a:stretch/>
        </p:blipFill>
        <p:spPr bwMode="auto">
          <a:xfrm>
            <a:off x="5873783" y="26154141"/>
            <a:ext cx="1641517" cy="816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FA800896-4893-46C1-A439-BF6BC25C1AC9}"/>
              </a:ext>
            </a:extLst>
          </p:cNvPr>
          <p:cNvSpPr/>
          <p:nvPr/>
        </p:nvSpPr>
        <p:spPr>
          <a:xfrm>
            <a:off x="32145707" y="5202225"/>
            <a:ext cx="11381872" cy="237781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536" tIns="97536" rIns="97536" bIns="97536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kumimoji="0" lang="en-US" sz="4267" b="1" i="0" u="none" strike="noStrike" kern="1200" cap="none" spc="0" normalizeH="0" baseline="0" noProof="0" dirty="0">
              <a:ln>
                <a:noFill/>
              </a:ln>
              <a:solidFill>
                <a:srgbClr val="12417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kumimoji="0" lang="en-US" sz="4267" b="1" i="0" u="none" strike="noStrike" kern="1200" cap="none" spc="0" normalizeH="0" baseline="0" noProof="0" dirty="0">
              <a:ln>
                <a:noFill/>
              </a:ln>
              <a:solidFill>
                <a:srgbClr val="12417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lang="en-US" sz="4267" b="1" dirty="0">
              <a:solidFill>
                <a:srgbClr val="124172"/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kumimoji="0" lang="en-US" sz="4267" b="1" i="0" u="none" strike="noStrike" kern="1200" cap="none" spc="0" normalizeH="0" baseline="0" noProof="0" dirty="0">
              <a:ln>
                <a:noFill/>
              </a:ln>
              <a:solidFill>
                <a:srgbClr val="12417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lang="en-US" sz="4267" b="1" dirty="0">
              <a:solidFill>
                <a:srgbClr val="124172"/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kumimoji="0" lang="en-US" sz="4267" b="1" i="0" u="none" strike="noStrike" kern="1200" cap="none" spc="0" normalizeH="0" baseline="0" noProof="0" dirty="0">
              <a:ln>
                <a:noFill/>
              </a:ln>
              <a:solidFill>
                <a:srgbClr val="12417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lang="en-US" sz="4267" b="1" dirty="0">
              <a:solidFill>
                <a:srgbClr val="124172"/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kumimoji="0" lang="en-US" sz="4267" b="1" i="0" u="none" strike="noStrike" kern="1200" cap="none" spc="0" normalizeH="0" baseline="0" noProof="0" dirty="0">
              <a:ln>
                <a:noFill/>
              </a:ln>
              <a:solidFill>
                <a:srgbClr val="12417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lang="en-US" sz="4267" b="1" dirty="0">
              <a:solidFill>
                <a:srgbClr val="124172"/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kumimoji="0" lang="en-US" sz="4267" b="1" i="0" u="none" strike="noStrike" kern="1200" cap="none" spc="0" normalizeH="0" baseline="0" noProof="0" dirty="0">
              <a:ln>
                <a:noFill/>
              </a:ln>
              <a:solidFill>
                <a:srgbClr val="12417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lang="en-US" sz="4267" b="1" dirty="0">
              <a:solidFill>
                <a:srgbClr val="124172"/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kumimoji="0" lang="en-US" sz="4267" b="1" i="0" u="none" strike="noStrike" kern="1200" cap="none" spc="0" normalizeH="0" baseline="0" noProof="0" dirty="0">
              <a:ln>
                <a:noFill/>
              </a:ln>
              <a:solidFill>
                <a:srgbClr val="12417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lang="en-US" sz="4267" b="1" dirty="0">
              <a:solidFill>
                <a:srgbClr val="124172"/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kumimoji="0" lang="en-US" sz="4267" b="1" i="0" u="none" strike="noStrike" kern="1200" cap="none" spc="0" normalizeH="0" baseline="0" noProof="0" dirty="0">
              <a:ln>
                <a:noFill/>
              </a:ln>
              <a:solidFill>
                <a:srgbClr val="12417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lang="en-US" sz="4267" b="1" dirty="0">
              <a:solidFill>
                <a:srgbClr val="124172"/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12417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kumimoji="0" lang="en-US" sz="4267" b="1" i="0" u="none" strike="noStrike" kern="1200" cap="none" spc="0" normalizeH="0" baseline="0" noProof="0" dirty="0">
              <a:ln>
                <a:noFill/>
              </a:ln>
              <a:solidFill>
                <a:srgbClr val="12417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kumimoji="0" lang="en-US" sz="4267" b="1" i="0" u="none" strike="noStrike" kern="1200" cap="none" spc="0" normalizeH="0" baseline="0" noProof="0" dirty="0">
              <a:ln>
                <a:noFill/>
              </a:ln>
              <a:solidFill>
                <a:srgbClr val="12417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lang="en-US" sz="4267" b="1" dirty="0">
              <a:solidFill>
                <a:srgbClr val="124172"/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kumimoji="0" lang="en-US" sz="4267" b="1" i="0" u="none" strike="noStrike" kern="1200" cap="none" spc="0" normalizeH="0" baseline="0" noProof="0" dirty="0">
              <a:ln>
                <a:noFill/>
              </a:ln>
              <a:solidFill>
                <a:srgbClr val="12417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lang="en-US" sz="4267" b="1" dirty="0">
              <a:solidFill>
                <a:srgbClr val="124172"/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kumimoji="0" lang="en-US" sz="4267" b="1" i="0" u="none" strike="noStrike" kern="1200" cap="none" spc="0" normalizeH="0" baseline="0" noProof="0" dirty="0">
              <a:ln>
                <a:noFill/>
              </a:ln>
              <a:solidFill>
                <a:srgbClr val="12417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endParaRPr lang="en-US" sz="4267" b="1" dirty="0">
              <a:solidFill>
                <a:srgbClr val="124172"/>
              </a:solidFill>
              <a:latin typeface="Calibri" panose="020F0502020204030204"/>
            </a:endParaRPr>
          </a:p>
          <a:p>
            <a:pPr lvl="0">
              <a:spcBef>
                <a:spcPts val="320"/>
              </a:spcBef>
              <a:spcAft>
                <a:spcPts val="320"/>
              </a:spcAft>
              <a:defRPr/>
            </a:pPr>
            <a:r>
              <a:rPr lang="en-US" sz="4267" b="1" dirty="0">
                <a:solidFill>
                  <a:srgbClr val="124172"/>
                </a:solidFill>
              </a:rPr>
              <a:t>RESULTS</a:t>
            </a:r>
            <a:endParaRPr lang="en-US" sz="4267" dirty="0">
              <a:solidFill>
                <a:srgbClr val="124172"/>
              </a:solidFill>
            </a:endParaRPr>
          </a:p>
          <a:p>
            <a:pPr marL="556778" lvl="0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3911" dirty="0">
                <a:solidFill>
                  <a:prstClr val="black">
                    <a:lumMod val="85000"/>
                    <a:lumOff val="15000"/>
                  </a:prstClr>
                </a:solidFill>
              </a:rPr>
              <a:t>No differences in rates of alcohol use (p &gt; 0.800)</a:t>
            </a:r>
          </a:p>
          <a:p>
            <a:pPr marL="556778" lvl="0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3911" dirty="0">
                <a:solidFill>
                  <a:prstClr val="black">
                    <a:lumMod val="85000"/>
                    <a:lumOff val="15000"/>
                  </a:prstClr>
                </a:solidFill>
              </a:rPr>
              <a:t>A trend towards lower age of alcohol initiation in Recreational States compared to Restricted</a:t>
            </a:r>
          </a:p>
          <a:p>
            <a:pPr marL="1013978" lvl="1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3911" dirty="0">
                <a:solidFill>
                  <a:prstClr val="black">
                    <a:lumMod val="85000"/>
                    <a:lumOff val="15000"/>
                  </a:prstClr>
                </a:solidFill>
              </a:rPr>
              <a:t>β =-0.168, p = 0.053</a:t>
            </a:r>
            <a:endParaRPr lang="en-US" sz="2667" b="1" dirty="0">
              <a:solidFill>
                <a:srgbClr val="124172"/>
              </a:solidFill>
            </a:endParaRPr>
          </a:p>
          <a:p>
            <a:pPr marL="556778" lvl="0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3911" dirty="0">
                <a:solidFill>
                  <a:prstClr val="black">
                    <a:lumMod val="85000"/>
                    <a:lumOff val="15000"/>
                  </a:prstClr>
                </a:solidFill>
              </a:rPr>
              <a:t>Higher rates of parent-reported perceived substance availability in both Recreational and Medical States</a:t>
            </a:r>
          </a:p>
          <a:p>
            <a:pPr marL="1013978" lvl="1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3911" dirty="0">
                <a:solidFill>
                  <a:prstClr val="black">
                    <a:lumMod val="85000"/>
                    <a:lumOff val="15000"/>
                  </a:prstClr>
                </a:solidFill>
              </a:rPr>
              <a:t>Recreational v Restricted- β =0.262, p &lt; 0.001</a:t>
            </a:r>
          </a:p>
          <a:p>
            <a:pPr marL="1013978" lvl="1" indent="-508006">
              <a:buClr>
                <a:srgbClr val="124172"/>
              </a:buClr>
              <a:buFont typeface="Wingdings" panose="05000000000000000000" pitchFamily="2" charset="2"/>
              <a:buChar char="§"/>
              <a:defRPr/>
            </a:pPr>
            <a:r>
              <a:rPr lang="en-US" sz="3910" dirty="0">
                <a:solidFill>
                  <a:schemeClr val="tx1"/>
                </a:solidFill>
              </a:rPr>
              <a:t>Medical v Restricted- </a:t>
            </a:r>
            <a:r>
              <a:rPr lang="en-US" sz="3911" dirty="0">
                <a:solidFill>
                  <a:prstClr val="black">
                    <a:lumMod val="85000"/>
                    <a:lumOff val="15000"/>
                  </a:prstClr>
                </a:solidFill>
              </a:rPr>
              <a:t>β =0.262, p = 0.006</a:t>
            </a:r>
            <a:endParaRPr lang="en-US" sz="3910" dirty="0">
              <a:solidFill>
                <a:schemeClr val="tx1"/>
              </a:solidFill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ClrTx/>
              <a:buSzTx/>
              <a:buFontTx/>
              <a:buNone/>
              <a:tabLst/>
              <a:defRPr/>
            </a:pPr>
            <a:r>
              <a:rPr lang="en-US" sz="4267" b="1" dirty="0">
                <a:solidFill>
                  <a:srgbClr val="124172"/>
                </a:solidFill>
              </a:rPr>
              <a:t>CONCLUSIONS</a:t>
            </a:r>
          </a:p>
          <a:p>
            <a:pPr marL="658379" indent="-609608">
              <a:buClr>
                <a:srgbClr val="124172"/>
              </a:buClr>
              <a:buFont typeface="Wingdings" panose="05000000000000000000" pitchFamily="2" charset="2"/>
              <a:buChar char="§"/>
            </a:pPr>
            <a:r>
              <a:rPr lang="en-US" sz="391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</a:t>
            </a:r>
          </a:p>
          <a:p>
            <a:pPr marL="658379" indent="-609608">
              <a:buClr>
                <a:srgbClr val="124172"/>
              </a:buClr>
              <a:buFont typeface="Wingdings" panose="05000000000000000000" pitchFamily="2" charset="2"/>
              <a:buChar char="§"/>
            </a:pPr>
            <a:endParaRPr lang="en-US" sz="391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451" dirty="0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3E9C4007-EB95-6D4A-C5C7-185A061BC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327373"/>
              </p:ext>
            </p:extLst>
          </p:nvPr>
        </p:nvGraphicFramePr>
        <p:xfrm>
          <a:off x="32207200" y="6001052"/>
          <a:ext cx="11320379" cy="1524192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891522">
                  <a:extLst>
                    <a:ext uri="{9D8B030D-6E8A-4147-A177-3AD203B41FA5}">
                      <a16:colId xmlns:a16="http://schemas.microsoft.com/office/drawing/2014/main" val="3358210123"/>
                    </a:ext>
                  </a:extLst>
                </a:gridCol>
                <a:gridCol w="2895083">
                  <a:extLst>
                    <a:ext uri="{9D8B030D-6E8A-4147-A177-3AD203B41FA5}">
                      <a16:colId xmlns:a16="http://schemas.microsoft.com/office/drawing/2014/main" val="2704306421"/>
                    </a:ext>
                  </a:extLst>
                </a:gridCol>
                <a:gridCol w="2713472">
                  <a:extLst>
                    <a:ext uri="{9D8B030D-6E8A-4147-A177-3AD203B41FA5}">
                      <a16:colId xmlns:a16="http://schemas.microsoft.com/office/drawing/2014/main" val="4172523742"/>
                    </a:ext>
                  </a:extLst>
                </a:gridCol>
                <a:gridCol w="2820302">
                  <a:extLst>
                    <a:ext uri="{9D8B030D-6E8A-4147-A177-3AD203B41FA5}">
                      <a16:colId xmlns:a16="http://schemas.microsoft.com/office/drawing/2014/main" val="854186768"/>
                    </a:ext>
                  </a:extLst>
                </a:gridCol>
              </a:tblGrid>
              <a:tr h="46822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</a:rPr>
                        <a:t>Characteristic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</a:rPr>
                        <a:t>Restricted </a:t>
                      </a:r>
                    </a:p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</a:rPr>
                        <a:t>Cannabis Use (N=)</a:t>
                      </a: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</a:rPr>
                        <a:t>Medical</a:t>
                      </a:r>
                    </a:p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</a:rPr>
                        <a:t>Cannabis Use (N=)</a:t>
                      </a: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</a:rPr>
                        <a:t>Recreational Cannabis Use (N=)</a:t>
                      </a: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7484509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 dirty="0">
                          <a:effectLst/>
                        </a:rPr>
                        <a:t>Sex at Birth (Female)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</a:rPr>
                        <a:t>n (n%)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</a:rPr>
                        <a:t>n (n%)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9323793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 dirty="0">
                          <a:effectLst/>
                        </a:rPr>
                        <a:t>Baseline Age (Years)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000" dirty="0">
                          <a:effectLst/>
                        </a:rPr>
                        <a:t>n (n) [n – n]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4572050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 dirty="0">
                          <a:effectLst/>
                        </a:rPr>
                        <a:t>Year 4 Age (Years)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789135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 dirty="0">
                          <a:effectLst/>
                        </a:rPr>
                        <a:t>Parental Education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19712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>
                          <a:effectLst/>
                        </a:rPr>
                        <a:t>    &lt; HS Diploma</a:t>
                      </a: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4984961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>
                          <a:effectLst/>
                        </a:rPr>
                        <a:t>    HS Diploma/GED</a:t>
                      </a: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2177338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>
                          <a:effectLst/>
                        </a:rPr>
                        <a:t>    Some College</a:t>
                      </a: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241652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>
                          <a:effectLst/>
                        </a:rPr>
                        <a:t>    Bachelor</a:t>
                      </a: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7859633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>
                          <a:effectLst/>
                        </a:rPr>
                        <a:t>    Post Graduate Degree</a:t>
                      </a: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820771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 dirty="0">
                          <a:effectLst/>
                        </a:rPr>
                        <a:t>Household Income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1920558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>
                          <a:effectLst/>
                        </a:rPr>
                        <a:t>    [&lt;50K]</a:t>
                      </a: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307446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>
                          <a:effectLst/>
                        </a:rPr>
                        <a:t>    [&gt;=50K &amp; &lt;100K]</a:t>
                      </a: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1528133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>
                          <a:effectLst/>
                        </a:rPr>
                        <a:t>    [&gt;=100K]</a:t>
                      </a: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5877701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>
                          <a:effectLst/>
                        </a:rPr>
                        <a:t>    Missing</a:t>
                      </a: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960634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 dirty="0">
                          <a:effectLst/>
                        </a:rPr>
                        <a:t>Race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7874258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>
                          <a:effectLst/>
                        </a:rPr>
                        <a:t>    AIAN/NHPI</a:t>
                      </a: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234159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>
                          <a:effectLst/>
                        </a:rPr>
                        <a:t>    Asian</a:t>
                      </a: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519548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>
                          <a:effectLst/>
                        </a:rPr>
                        <a:t>    Black</a:t>
                      </a: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2980495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 dirty="0">
                          <a:effectLst/>
                        </a:rPr>
                        <a:t>    Multiracial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4287775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>
                          <a:effectLst/>
                        </a:rPr>
                        <a:t>    Other</a:t>
                      </a: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338266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>
                          <a:effectLst/>
                        </a:rPr>
                        <a:t>    White</a:t>
                      </a: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36723"/>
                  </a:ext>
                </a:extLst>
              </a:tr>
              <a:tr h="46822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000" dirty="0">
                          <a:effectLst/>
                        </a:rPr>
                        <a:t>Hispanic Ethnicity (Yes)</a:t>
                      </a: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3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3871400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3BEF96EB-4D0C-F615-92C5-8AE4B3851BB7}"/>
              </a:ext>
            </a:extLst>
          </p:cNvPr>
          <p:cNvSpPr/>
          <p:nvPr/>
        </p:nvSpPr>
        <p:spPr>
          <a:xfrm>
            <a:off x="32154558" y="5253288"/>
            <a:ext cx="5985902" cy="731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536" tIns="97536" rIns="97536" bIns="97536" rtlCol="0" anchor="t"/>
          <a:lstStyle/>
          <a:p>
            <a:pPr>
              <a:spcAft>
                <a:spcPts val="320"/>
              </a:spcAft>
            </a:pPr>
            <a:r>
              <a:rPr lang="en-US" sz="4267" b="1" dirty="0">
                <a:solidFill>
                  <a:srgbClr val="124172"/>
                </a:solidFill>
              </a:rPr>
              <a:t>Table 2. Demographics</a:t>
            </a:r>
            <a:endParaRPr lang="en-US" sz="4267" dirty="0"/>
          </a:p>
        </p:txBody>
      </p:sp>
      <p:pic>
        <p:nvPicPr>
          <p:cNvPr id="3" name="Picture 4" descr="MUSC Collaborative: Youth Psychiatry | MUSC Health | Charleston SC">
            <a:extLst>
              <a:ext uri="{FF2B5EF4-FFF2-40B4-BE49-F238E27FC236}">
                <a16:creationId xmlns:a16="http://schemas.microsoft.com/office/drawing/2014/main" id="{199F6E93-E139-EB9F-983F-87D89C57C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9856" y="634426"/>
            <a:ext cx="3786866" cy="3786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PARCRequest">
            <a:extLst>
              <a:ext uri="{FF2B5EF4-FFF2-40B4-BE49-F238E27FC236}">
                <a16:creationId xmlns:a16="http://schemas.microsoft.com/office/drawing/2014/main" id="{2287FE03-B882-3DEF-3D66-5B1D6769D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37" y="710347"/>
            <a:ext cx="4890258" cy="3207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33DBD1F-0A3B-FD3B-3666-52BA5C433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617" y="26210401"/>
            <a:ext cx="704078" cy="704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5150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2043</TotalTime>
  <Words>1692</Words>
  <Application>Microsoft Office PowerPoint</Application>
  <PresentationFormat>Custom</PresentationFormat>
  <Paragraphs>299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>University of Florida Academic Health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Freed,Deaven A</dc:creator>
  <cp:lastModifiedBy>Moore, Andrew James</cp:lastModifiedBy>
  <cp:revision>435</cp:revision>
  <cp:lastPrinted>2024-09-19T17:53:37Z</cp:lastPrinted>
  <dcterms:created xsi:type="dcterms:W3CDTF">2017-08-24T13:34:21Z</dcterms:created>
  <dcterms:modified xsi:type="dcterms:W3CDTF">2026-05-27T14:18:36Z</dcterms:modified>
</cp:coreProperties>
</file>