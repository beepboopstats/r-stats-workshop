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07" r:id="rId3"/>
    <p:sldId id="486" r:id="rId4"/>
    <p:sldId id="487" r:id="rId5"/>
    <p:sldId id="489" r:id="rId6"/>
    <p:sldId id="488" r:id="rId7"/>
    <p:sldId id="490" r:id="rId8"/>
    <p:sldId id="491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1B0A"/>
    <a:srgbClr val="F37B67"/>
    <a:srgbClr val="901B0A"/>
    <a:srgbClr val="A11B0A"/>
    <a:srgbClr val="B21B0A"/>
    <a:srgbClr val="BC1B0A"/>
    <a:srgbClr val="BB31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0935" autoAdjust="0"/>
  </p:normalViewPr>
  <p:slideViewPr>
    <p:cSldViewPr snapToGrid="0">
      <p:cViewPr varScale="1">
        <p:scale>
          <a:sx n="95" d="100"/>
          <a:sy n="95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81AD-2D44-4DAC-86FA-BDD7EDD91F8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9A816-8633-4B84-A9FB-04555101E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20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6568F-CE65-3A4C-E4DD-63D7A31E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75D44-F5D4-4650-63D3-5DBA3247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6F8A-CB45-966A-7FA7-DC048875A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86485-D5DB-C201-16B5-045D221D8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4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7E8B-8C0F-7511-909C-DE0FFB960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86B5E-1EE1-047C-C209-2FE95A8B4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F2237-526B-0C13-E2FF-50D28381B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you are a pediatrician, and you are concerned about your kiddos starting to use cannabis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think to yourself, “if only there was a way to predict which kids were the most likely to use cannabis”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your question is: How do we predict who is going to go to start using cannabis prior to age 16?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Don’t press enter until I tell you. Type your answer to this question into the chat and we will all press enter at the same time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Guess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Stereotypes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parents/teachers what they think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 takeaway: Inferential Stats is one tool we can use to guide our decision making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648C-3AEF-D1E9-394A-27AAA6047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4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42835-06AD-6CA0-A56D-5DEA30AB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9F885-FAB9-82D3-A511-3512CF4B2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41E6E-DD64-AFE1-9891-417CF86A3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Going to use both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07C23-E072-6AD3-E217-933ECEC68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70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8F41-3A57-132F-5394-14176BBB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F65D3-5BE0-503F-543C-C47282568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26F6B-D43A-B909-EF75-A2DFD41F1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to look back to so that we are all speaking the same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75740-396D-859D-E16C-A839B96E8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54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0719-CF4C-65C8-8292-7E683FF8C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B3ADD-1DB7-FB5F-100A-7E8CA6E4C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E22B5-7333-E514-5D39-80230D860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to come back to when you want to adapt our examples to match your own interests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E895E-ACE0-D5E9-281A-E92D48A65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94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77C8-BB47-C66D-7445-C327B3F9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F242B-C165-A835-D666-EA882537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218AD-20F4-5A80-C01A-9992DB8B7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BDFCE-8ABD-774B-D31D-91F4DBCF8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06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F6CB4-9183-88AE-A1A6-07A9E11B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30A69-C5AD-2BF8-2F7F-9DDC48123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881CD-256F-47E0-EFA2-D615F69B7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going to need the data and data dictionary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https://www.beepboopstats.com/r-stats-workshop/content/data.html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07D00-59D4-DFC6-2633-279B60244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A816-8633-4B84-A9FB-04555101E0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2E8B-E884-4A8D-2AD9-3C7F84B5E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06ABF-BFC8-0A14-5B64-4B67BFAC3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DFD8-3543-FC51-E9FF-79BC4F9B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41688-6C6E-248A-AEB4-296E8652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1FB19-466A-1EA4-E7A0-80FA52C4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33FD-4AB8-D321-8CE0-7327C818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DEA3-48E5-C2E5-F6E0-2C0961DE7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66AA6-B775-9F16-21EA-BFAB82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0079-622A-E5C7-591B-F328A69A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F818F-CC44-2110-0475-03E3F18C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2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5D97-0D5A-6212-8D9A-6A5A2262E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44ED9-4365-A2CD-D997-6D762EB8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6D463-E5F8-5BC4-E1A7-32DF878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65E5-2B85-5601-B19E-5A271936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9E41-366F-A7CA-70D4-A291E47D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1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9076-BBEA-C978-CD05-76B62727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AB13-4BBB-7C04-18D7-4879ABDBB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95C83-C53F-0D63-6E53-807D2A65B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983BE-4C5A-E740-8F6E-6FD3A8FE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31353-9BCD-1B72-6E86-713E5DD6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AAE00-BE74-8552-D206-66409FDF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69FF-B21A-2ACA-DB73-FCC7B028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364F-0AD9-CACC-2A03-D9DAEDFF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EFDD0-239A-60B3-B1F1-1A9EDFA97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29D6A-9E63-D851-249E-7BED09EDD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4C73C-2657-5221-D59C-519D6F572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A8E10-18C5-51B4-9514-DDA1058E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CAD5A-9219-7C03-64B1-56DA93D8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1CCD4C-E60F-0963-54D5-9617A7C7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3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C0B6-8F4B-5ADD-22D7-A9ECF8A3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6CB92-E0A4-7DA9-369B-EDA2DF81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41EA2-C9AD-7E3C-CA85-3EC44AE5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9BC31-A0FA-5991-76EB-A3B1E39D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7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DA78B-0CC5-39D3-B821-99BF67B3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5E6D6-3470-D319-0EAE-7CD7D729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EBEFE-9588-BD33-6F5F-8BB1BCC9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1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F20B-2A91-23D4-FA49-9E2B37AB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6251-18CD-1DF9-C2B1-A6B01DBD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A6B49-8A51-BF37-A280-7794CC4C2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D8D1C-FBAB-EC98-7F96-ED566900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42898-E664-4968-E78E-DE9F93D8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93204-A547-BC37-0B3E-5853BDA7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4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2474-D1BC-DA32-18BE-EAB80BAC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19501-D05B-DB50-42CE-1BCF79556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05E33-D06A-572B-2F19-AF16192A9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F15A8-D3F9-EFCB-8612-438C06B3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03942-789C-E91A-400B-B4A697C0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2D4B9-6FB8-1C2B-7A51-EE6AED70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2E84-DC9A-A402-3524-F9F46D3FE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75EB8-DFA6-9F79-AD3B-25D9CD4FD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EDED-A9F2-171C-E303-61BC4705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949E1-53BA-3D11-7300-4167C974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C6C9-3C83-302D-60F7-145B89AC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8FEB9-6925-6EDC-241C-F1B4CE079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6D3C9-7E98-F80F-8285-33DCD1827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890AA-A996-8E2C-544D-798018A5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250E-7CAE-6489-1385-C7280C3D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1E43-9881-BB43-BEED-6FD43319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4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8AFEF-CCFB-8098-D390-4460D46E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1854B-919C-A69F-72D3-B56D1DE4E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AFBBB-F44C-AFA2-3321-CF0EBD954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70268-AF62-4650-815C-201C50A175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59DD8-D95A-DC85-E246-95720B6EB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D7AE7-CD83-7250-235A-48535983D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DFD3F-70CB-43D3-B4BA-1BF0BB3AE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4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mailto:ajm9311@ou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arden with flowers and trees&#10;&#10;Description automatically generated">
            <a:extLst>
              <a:ext uri="{FF2B5EF4-FFF2-40B4-BE49-F238E27FC236}">
                <a16:creationId xmlns:a16="http://schemas.microsoft.com/office/drawing/2014/main" id="{ADA7E2F5-FD26-460E-33DD-2923230A45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1" b="49680"/>
          <a:stretch/>
        </p:blipFill>
        <p:spPr>
          <a:xfrm>
            <a:off x="1" y="0"/>
            <a:ext cx="12191999" cy="2902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97CB6-672B-35E9-3B09-7806A1B53A59}"/>
              </a:ext>
            </a:extLst>
          </p:cNvPr>
          <p:cNvSpPr txBox="1"/>
          <p:nvPr/>
        </p:nvSpPr>
        <p:spPr>
          <a:xfrm>
            <a:off x="0" y="2902225"/>
            <a:ext cx="12192000" cy="2323713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500" b="1" dirty="0">
              <a:solidFill>
                <a:schemeClr val="bg1"/>
              </a:solidFill>
            </a:endParaRPr>
          </a:p>
          <a:p>
            <a:pPr algn="ctr"/>
            <a:endParaRPr lang="en-US" sz="2500" b="1" dirty="0">
              <a:solidFill>
                <a:schemeClr val="bg1"/>
              </a:solidFill>
            </a:endParaRPr>
          </a:p>
          <a:p>
            <a:pPr algn="ctr"/>
            <a:r>
              <a:rPr lang="en-US" sz="4500" b="1" dirty="0">
                <a:solidFill>
                  <a:schemeClr val="bg1"/>
                </a:solidFill>
              </a:rPr>
              <a:t>ABCD Stats Workshop- Module 3</a:t>
            </a:r>
          </a:p>
          <a:p>
            <a:pPr algn="ctr"/>
            <a:endParaRPr lang="en-US" sz="2500" b="1" dirty="0">
              <a:solidFill>
                <a:schemeClr val="bg1"/>
              </a:solidFill>
            </a:endParaRPr>
          </a:p>
          <a:p>
            <a:pPr algn="ctr"/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FED1B-EDE3-F90C-B3AF-F96B6E8639AB}"/>
              </a:ext>
            </a:extLst>
          </p:cNvPr>
          <p:cNvSpPr txBox="1"/>
          <p:nvPr/>
        </p:nvSpPr>
        <p:spPr>
          <a:xfrm>
            <a:off x="6817517" y="5311483"/>
            <a:ext cx="2836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Andrew Moore, PhD </a:t>
            </a:r>
            <a:r>
              <a:rPr lang="en-US" sz="1400" dirty="0"/>
              <a:t>(he/him)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University of Oklahoma</a:t>
            </a:r>
          </a:p>
          <a:p>
            <a:r>
              <a:rPr lang="en-US" dirty="0"/>
              <a:t>Department of Psychology</a:t>
            </a:r>
          </a:p>
          <a:p>
            <a:r>
              <a:rPr lang="en-US" dirty="0"/>
              <a:t>Email: </a:t>
            </a:r>
            <a:r>
              <a:rPr lang="en-US" dirty="0">
                <a:hlinkClick r:id="rId4"/>
              </a:rPr>
              <a:t>ajm9311@ou.edu</a:t>
            </a:r>
            <a:endParaRPr lang="en-US" dirty="0"/>
          </a:p>
        </p:txBody>
      </p:sp>
      <p:pic>
        <p:nvPicPr>
          <p:cNvPr id="1028" name="Picture 4" descr="Interlocking OU, Dodge Family College of Arts and Sciences, Department of Psychology, The University of Oklahoma website wordmark.">
            <a:extLst>
              <a:ext uri="{FF2B5EF4-FFF2-40B4-BE49-F238E27FC236}">
                <a16:creationId xmlns:a16="http://schemas.microsoft.com/office/drawing/2014/main" id="{94A5B00F-3062-7542-6AE3-1533BB367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2" y="5573423"/>
            <a:ext cx="6602776" cy="95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8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5FD8-32E1-D010-1731-874ACE4B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450276-B33E-F6C1-4EBB-C3A08B03A2FD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B79DBA3D-764A-8F2C-474F-3659399E8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96B3A-DAAF-3743-F008-3181EAEF6F32}"/>
              </a:ext>
            </a:extLst>
          </p:cNvPr>
          <p:cNvSpPr txBox="1"/>
          <p:nvPr/>
        </p:nvSpPr>
        <p:spPr>
          <a:xfrm>
            <a:off x="218342" y="23946"/>
            <a:ext cx="11380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F31B5B8-6D82-ECA1-3EE7-41601499A868}"/>
              </a:ext>
            </a:extLst>
          </p:cNvPr>
          <p:cNvSpPr txBox="1">
            <a:spLocks/>
          </p:cNvSpPr>
          <p:nvPr/>
        </p:nvSpPr>
        <p:spPr>
          <a:xfrm>
            <a:off x="96253" y="896457"/>
            <a:ext cx="10568434" cy="4408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Font typeface="+mj-lt"/>
              <a:buAutoNum type="arabicPeriod"/>
            </a:pPr>
            <a:r>
              <a:rPr lang="en-US" sz="3600" dirty="0"/>
              <a:t>Brief overview of inferential statistics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Walkthrough templates for: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T-test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ANOVA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Simple Linear Regression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Practice updating templates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Wrap-Up + Plan for Module 4</a:t>
            </a:r>
          </a:p>
        </p:txBody>
      </p:sp>
    </p:spTree>
    <p:extLst>
      <p:ext uri="{BB962C8B-B14F-4D97-AF65-F5344CB8AC3E}">
        <p14:creationId xmlns:p14="http://schemas.microsoft.com/office/powerpoint/2010/main" val="167332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AA46-C37C-0314-EF70-86BFA4A6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D93379-E466-2286-64D6-C5149B3C75AC}"/>
              </a:ext>
            </a:extLst>
          </p:cNvPr>
          <p:cNvSpPr/>
          <p:nvPr/>
        </p:nvSpPr>
        <p:spPr>
          <a:xfrm>
            <a:off x="492367" y="4868424"/>
            <a:ext cx="11207262" cy="15725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Open Sans Semibold"/>
                <a:cs typeface="Arial" panose="020B0604020202020204" pitchFamily="34" charset="0"/>
              </a:rPr>
              <a:t>Inferential Stats is one of many tools we can use to guide our decision making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0BF07-5D03-7F8D-9756-AB4BAFBD898F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925C2FF5-B012-998C-D882-A1640DB3DF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335517"/>
            <a:ext cx="492367" cy="52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B4F903-CE4D-5351-B3C4-F8EC553E8380}"/>
              </a:ext>
            </a:extLst>
          </p:cNvPr>
          <p:cNvSpPr/>
          <p:nvPr/>
        </p:nvSpPr>
        <p:spPr>
          <a:xfrm>
            <a:off x="492367" y="2472065"/>
            <a:ext cx="11207261" cy="191386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How do we predict who is going to go to start using cannabis prior to age 16?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709188-EC67-9F88-D7C0-B950D2B77F66}"/>
              </a:ext>
            </a:extLst>
          </p:cNvPr>
          <p:cNvSpPr/>
          <p:nvPr/>
        </p:nvSpPr>
        <p:spPr>
          <a:xfrm>
            <a:off x="2643552" y="1087377"/>
            <a:ext cx="6904893" cy="902198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</a:t>
            </a:r>
          </a:p>
        </p:txBody>
      </p:sp>
    </p:spTree>
    <p:extLst>
      <p:ext uri="{BB962C8B-B14F-4D97-AF65-F5344CB8AC3E}">
        <p14:creationId xmlns:p14="http://schemas.microsoft.com/office/powerpoint/2010/main" val="333413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5B12-C308-AA07-C65C-FCD38089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F69BD-4DD7-C9EA-5664-4636B7E4CCA5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A7CF6A-BDAB-CED0-8D1D-C562EA239F6C}"/>
              </a:ext>
            </a:extLst>
          </p:cNvPr>
          <p:cNvSpPr/>
          <p:nvPr/>
        </p:nvSpPr>
        <p:spPr>
          <a:xfrm>
            <a:off x="517488" y="976845"/>
            <a:ext cx="4922857" cy="1384518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Descriptive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959A-6053-8866-F45E-A9D95D96DDA3}"/>
              </a:ext>
            </a:extLst>
          </p:cNvPr>
          <p:cNvSpPr txBox="1"/>
          <p:nvPr/>
        </p:nvSpPr>
        <p:spPr>
          <a:xfrm>
            <a:off x="218342" y="23946"/>
            <a:ext cx="9853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Descriptive vs. Inferential Statistics</a:t>
            </a:r>
          </a:p>
        </p:txBody>
      </p:sp>
      <p:pic>
        <p:nvPicPr>
          <p:cNvPr id="8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BDC5EF3F-B99B-3E2E-8A96-04B651904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1FA9A2-FAF6-5BDF-E9CD-1A5DFF8D0974}"/>
              </a:ext>
            </a:extLst>
          </p:cNvPr>
          <p:cNvSpPr/>
          <p:nvPr/>
        </p:nvSpPr>
        <p:spPr>
          <a:xfrm>
            <a:off x="6751656" y="976845"/>
            <a:ext cx="4922857" cy="1384518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9D52F47-90F7-097D-32CB-E97EBE105A86}"/>
              </a:ext>
            </a:extLst>
          </p:cNvPr>
          <p:cNvSpPr txBox="1">
            <a:spLocks/>
          </p:cNvSpPr>
          <p:nvPr/>
        </p:nvSpPr>
        <p:spPr>
          <a:xfrm>
            <a:off x="517637" y="2361363"/>
            <a:ext cx="4922856" cy="26829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Mean, Median, Mode</a:t>
            </a:r>
          </a:p>
          <a:p>
            <a:r>
              <a:rPr lang="en-US" sz="4000" dirty="0"/>
              <a:t>Standard Deviation</a:t>
            </a:r>
          </a:p>
          <a:p>
            <a:r>
              <a:rPr lang="en-US" sz="4000" dirty="0"/>
              <a:t>Interquartile Range</a:t>
            </a:r>
          </a:p>
          <a:p>
            <a:r>
              <a:rPr lang="en-US" sz="4000" dirty="0"/>
              <a:t>Graphs and Figures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2F4E820-37F2-C534-5903-081AC954B664}"/>
              </a:ext>
            </a:extLst>
          </p:cNvPr>
          <p:cNvSpPr txBox="1">
            <a:spLocks/>
          </p:cNvSpPr>
          <p:nvPr/>
        </p:nvSpPr>
        <p:spPr>
          <a:xfrm>
            <a:off x="6751657" y="2361362"/>
            <a:ext cx="4922856" cy="27833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T-Test</a:t>
            </a:r>
          </a:p>
          <a:p>
            <a:r>
              <a:rPr lang="en-US" sz="4000" dirty="0"/>
              <a:t>ANOVA</a:t>
            </a:r>
          </a:p>
          <a:p>
            <a:r>
              <a:rPr lang="en-US" sz="4000" dirty="0"/>
              <a:t>Regression</a:t>
            </a:r>
          </a:p>
          <a:p>
            <a:r>
              <a:rPr lang="en-US" sz="4000" dirty="0"/>
              <a:t>Correlation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FD71E1-2063-417A-F8AF-12AFCFCDBA5D}"/>
              </a:ext>
            </a:extLst>
          </p:cNvPr>
          <p:cNvSpPr/>
          <p:nvPr/>
        </p:nvSpPr>
        <p:spPr>
          <a:xfrm>
            <a:off x="827011" y="5205044"/>
            <a:ext cx="4303809" cy="155749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Describe Data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FC6FE4-EA18-2EF6-2393-2AC0EEE507D6}"/>
              </a:ext>
            </a:extLst>
          </p:cNvPr>
          <p:cNvSpPr/>
          <p:nvPr/>
        </p:nvSpPr>
        <p:spPr>
          <a:xfrm>
            <a:off x="7061182" y="5205045"/>
            <a:ext cx="4303809" cy="155749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Quantify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58057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A3B0-A66E-FED4-A2D8-F13BBDC6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CCA00B-30BC-2997-5A3D-2E9B35094CA6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10132A-1AF2-76BF-2EBE-936E26F35701}"/>
              </a:ext>
            </a:extLst>
          </p:cNvPr>
          <p:cNvSpPr/>
          <p:nvPr/>
        </p:nvSpPr>
        <p:spPr>
          <a:xfrm>
            <a:off x="517488" y="976845"/>
            <a:ext cx="4922857" cy="755780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Terms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33104-2A88-4CAD-CD6F-A86233A82821}"/>
              </a:ext>
            </a:extLst>
          </p:cNvPr>
          <p:cNvSpPr txBox="1"/>
          <p:nvPr/>
        </p:nvSpPr>
        <p:spPr>
          <a:xfrm>
            <a:off x="218342" y="23946"/>
            <a:ext cx="9853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Terms to Reference</a:t>
            </a:r>
          </a:p>
        </p:txBody>
      </p:sp>
      <p:pic>
        <p:nvPicPr>
          <p:cNvPr id="8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C31AFAE6-E8FF-9E82-F224-A6D1B70419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E09B3A-65DF-43D3-594A-904743F308CB}"/>
              </a:ext>
            </a:extLst>
          </p:cNvPr>
          <p:cNvSpPr/>
          <p:nvPr/>
        </p:nvSpPr>
        <p:spPr>
          <a:xfrm>
            <a:off x="6751656" y="976845"/>
            <a:ext cx="4922857" cy="1384518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7415FD4-BF90-8632-1537-B32A348F14B2}"/>
              </a:ext>
            </a:extLst>
          </p:cNvPr>
          <p:cNvSpPr txBox="1">
            <a:spLocks/>
          </p:cNvSpPr>
          <p:nvPr/>
        </p:nvSpPr>
        <p:spPr>
          <a:xfrm>
            <a:off x="517486" y="1762768"/>
            <a:ext cx="5578514" cy="4979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Independent Variable (IV)</a:t>
            </a:r>
          </a:p>
          <a:p>
            <a:pPr lvl="1"/>
            <a:r>
              <a:rPr lang="en-US" sz="3600" dirty="0"/>
              <a:t>Predictor Variable</a:t>
            </a:r>
          </a:p>
          <a:p>
            <a:pPr marL="0" indent="0">
              <a:buNone/>
            </a:pPr>
            <a:r>
              <a:rPr lang="en-US" sz="4000" dirty="0"/>
              <a:t>Dependent Variable (DV)</a:t>
            </a:r>
          </a:p>
          <a:p>
            <a:pPr lvl="1"/>
            <a:r>
              <a:rPr lang="en-US" sz="3600" dirty="0"/>
              <a:t>Outcome Variable</a:t>
            </a:r>
          </a:p>
          <a:p>
            <a:pPr marL="0" indent="0">
              <a:buNone/>
            </a:pPr>
            <a:r>
              <a:rPr lang="en-US" sz="4000" dirty="0"/>
              <a:t>Continuous Variable</a:t>
            </a:r>
          </a:p>
          <a:p>
            <a:pPr lvl="1"/>
            <a:r>
              <a:rPr lang="en-US" sz="3600" dirty="0"/>
              <a:t>On a Scale</a:t>
            </a:r>
          </a:p>
          <a:p>
            <a:pPr marL="0" indent="0">
              <a:buNone/>
            </a:pPr>
            <a:r>
              <a:rPr lang="en-US" sz="4400" dirty="0"/>
              <a:t>Categorical Variable</a:t>
            </a:r>
          </a:p>
          <a:p>
            <a:pPr lvl="1"/>
            <a:r>
              <a:rPr lang="en-US" sz="3600" dirty="0"/>
              <a:t>Discrete Categories</a:t>
            </a:r>
          </a:p>
          <a:p>
            <a:endParaRPr lang="en-US" sz="4000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2A54378B-6A98-62A3-6F49-B740C03077BF}"/>
              </a:ext>
            </a:extLst>
          </p:cNvPr>
          <p:cNvSpPr txBox="1">
            <a:spLocks/>
          </p:cNvSpPr>
          <p:nvPr/>
        </p:nvSpPr>
        <p:spPr>
          <a:xfrm>
            <a:off x="6751657" y="2361362"/>
            <a:ext cx="4922856" cy="27833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T-Test</a:t>
            </a:r>
          </a:p>
          <a:p>
            <a:r>
              <a:rPr lang="en-US" sz="4000" dirty="0"/>
              <a:t>ANOVA</a:t>
            </a:r>
          </a:p>
          <a:p>
            <a:r>
              <a:rPr lang="en-US" sz="4000" dirty="0"/>
              <a:t>Regression</a:t>
            </a:r>
          </a:p>
          <a:p>
            <a:r>
              <a:rPr lang="en-US" sz="4000" dirty="0"/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289956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3B70-B78F-2FE9-2330-8E2C14DF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8A6084-A0A7-AC5B-BFAC-7CB3AD6F9FFD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F8427-54E1-3FC0-5563-63433934BB7D}"/>
              </a:ext>
            </a:extLst>
          </p:cNvPr>
          <p:cNvSpPr txBox="1"/>
          <p:nvPr/>
        </p:nvSpPr>
        <p:spPr>
          <a:xfrm>
            <a:off x="218342" y="23946"/>
            <a:ext cx="10463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Statistics- When to Use What</a:t>
            </a:r>
          </a:p>
        </p:txBody>
      </p:sp>
      <p:pic>
        <p:nvPicPr>
          <p:cNvPr id="8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54B5F4FE-2C68-3898-9CCC-B87B549D2F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4D51FA-FE11-CAAF-A023-9A5E774519AC}"/>
              </a:ext>
            </a:extLst>
          </p:cNvPr>
          <p:cNvSpPr/>
          <p:nvPr/>
        </p:nvSpPr>
        <p:spPr>
          <a:xfrm>
            <a:off x="2611106" y="881386"/>
            <a:ext cx="6969788" cy="831859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DF66E9B-2BD4-2E93-3E3C-4453C2072BF9}"/>
              </a:ext>
            </a:extLst>
          </p:cNvPr>
          <p:cNvSpPr txBox="1">
            <a:spLocks/>
          </p:cNvSpPr>
          <p:nvPr/>
        </p:nvSpPr>
        <p:spPr>
          <a:xfrm>
            <a:off x="2380727" y="1838851"/>
            <a:ext cx="7430545" cy="27833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T-Test</a:t>
            </a:r>
          </a:p>
          <a:p>
            <a:pPr lvl="1"/>
            <a:r>
              <a:rPr lang="en-US" sz="3600" dirty="0"/>
              <a:t>Continuous DV</a:t>
            </a:r>
          </a:p>
          <a:p>
            <a:pPr lvl="1"/>
            <a:r>
              <a:rPr lang="en-US" sz="3600" dirty="0"/>
              <a:t>2-Level Categorical IV</a:t>
            </a:r>
          </a:p>
          <a:p>
            <a:pPr marL="0" indent="0">
              <a:buNone/>
            </a:pPr>
            <a:r>
              <a:rPr lang="en-US" sz="4000" dirty="0"/>
              <a:t>ANOVA</a:t>
            </a:r>
          </a:p>
          <a:p>
            <a:pPr lvl="1"/>
            <a:r>
              <a:rPr lang="en-US" sz="3600" dirty="0"/>
              <a:t>Continuous DV</a:t>
            </a:r>
          </a:p>
          <a:p>
            <a:pPr lvl="1"/>
            <a:r>
              <a:rPr lang="en-US" sz="3600" dirty="0"/>
              <a:t>+2-Level Categorical IV</a:t>
            </a:r>
          </a:p>
          <a:p>
            <a:pPr marL="0" indent="0">
              <a:buNone/>
            </a:pPr>
            <a:r>
              <a:rPr lang="en-US" sz="4000" dirty="0"/>
              <a:t>Regression/Correlation</a:t>
            </a:r>
          </a:p>
          <a:p>
            <a:pPr lvl="1"/>
            <a:r>
              <a:rPr lang="en-US" sz="3600" dirty="0"/>
              <a:t>Continuous DV and Continuous IV</a:t>
            </a:r>
          </a:p>
        </p:txBody>
      </p:sp>
    </p:spTree>
    <p:extLst>
      <p:ext uri="{BB962C8B-B14F-4D97-AF65-F5344CB8AC3E}">
        <p14:creationId xmlns:p14="http://schemas.microsoft.com/office/powerpoint/2010/main" val="394897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EC8E-6EFB-1793-7804-0AD90905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46167A-C3B1-489A-64E2-71B494DDF781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FC46A-3E8E-AED4-655D-D1D4E2AAF2FF}"/>
              </a:ext>
            </a:extLst>
          </p:cNvPr>
          <p:cNvSpPr txBox="1"/>
          <p:nvPr/>
        </p:nvSpPr>
        <p:spPr>
          <a:xfrm>
            <a:off x="218342" y="23946"/>
            <a:ext cx="10463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Statistics- R Templates</a:t>
            </a:r>
          </a:p>
        </p:txBody>
      </p:sp>
      <p:pic>
        <p:nvPicPr>
          <p:cNvPr id="8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7D643749-CEFD-821D-64C9-9D21C2485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67F795-AE4B-09B7-E877-151BAB81D046}"/>
              </a:ext>
            </a:extLst>
          </p:cNvPr>
          <p:cNvSpPr/>
          <p:nvPr/>
        </p:nvSpPr>
        <p:spPr>
          <a:xfrm>
            <a:off x="284703" y="1413947"/>
            <a:ext cx="3299554" cy="831859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T-Test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0FAE8-6331-607A-766A-627C2EFB81D7}"/>
              </a:ext>
            </a:extLst>
          </p:cNvPr>
          <p:cNvSpPr/>
          <p:nvPr/>
        </p:nvSpPr>
        <p:spPr>
          <a:xfrm>
            <a:off x="4446223" y="1413946"/>
            <a:ext cx="3299553" cy="831859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ANOVA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67E5D8-226A-131E-AEB0-1999FE230436}"/>
              </a:ext>
            </a:extLst>
          </p:cNvPr>
          <p:cNvSpPr/>
          <p:nvPr/>
        </p:nvSpPr>
        <p:spPr>
          <a:xfrm>
            <a:off x="8607743" y="1413946"/>
            <a:ext cx="3299554" cy="831859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Regression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E1314B-72FC-A733-9654-17E5D3616178}"/>
              </a:ext>
            </a:extLst>
          </p:cNvPr>
          <p:cNvSpPr/>
          <p:nvPr/>
        </p:nvSpPr>
        <p:spPr>
          <a:xfrm>
            <a:off x="2266239" y="3429000"/>
            <a:ext cx="7659520" cy="155749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Something you can adapt and come back to later</a:t>
            </a:r>
          </a:p>
        </p:txBody>
      </p:sp>
    </p:spTree>
    <p:extLst>
      <p:ext uri="{BB962C8B-B14F-4D97-AF65-F5344CB8AC3E}">
        <p14:creationId xmlns:p14="http://schemas.microsoft.com/office/powerpoint/2010/main" val="392192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C030-0C10-D6F3-6EF5-C22F1602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C66D0-75E5-B37A-C519-8A71A0860E75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FBBD3-7C64-C0C9-36F2-4B6C42244019}"/>
              </a:ext>
            </a:extLst>
          </p:cNvPr>
          <p:cNvSpPr txBox="1"/>
          <p:nvPr/>
        </p:nvSpPr>
        <p:spPr>
          <a:xfrm>
            <a:off x="218342" y="23946"/>
            <a:ext cx="10463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Inferential Statistics- R Data</a:t>
            </a:r>
          </a:p>
        </p:txBody>
      </p:sp>
      <p:pic>
        <p:nvPicPr>
          <p:cNvPr id="8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540B2453-EDBA-55F9-23BB-C5C385A0E7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360A4C-6664-8550-B7B7-8FC0B5870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126" y="1003705"/>
            <a:ext cx="7325747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0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A836-6FC5-E39D-991A-33DD637C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U Department of Psychology (@oudeptpsych) • Instagram photos and videos">
            <a:extLst>
              <a:ext uri="{FF2B5EF4-FFF2-40B4-BE49-F238E27FC236}">
                <a16:creationId xmlns:a16="http://schemas.microsoft.com/office/drawing/2014/main" id="{A2F032BA-2CB5-C9F5-4755-D83371230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0" t="9802" r="13068" b="11918"/>
          <a:stretch/>
        </p:blipFill>
        <p:spPr bwMode="auto">
          <a:xfrm>
            <a:off x="0" y="6233660"/>
            <a:ext cx="588383" cy="6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5D0B6B-E30C-47F3-7F39-9139780487F7}"/>
              </a:ext>
            </a:extLst>
          </p:cNvPr>
          <p:cNvSpPr/>
          <p:nvPr/>
        </p:nvSpPr>
        <p:spPr>
          <a:xfrm>
            <a:off x="0" y="0"/>
            <a:ext cx="12192000" cy="755780"/>
          </a:xfrm>
          <a:prstGeom prst="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1AF78-6B8F-B5D1-3DDB-32EF7D5C8433}"/>
              </a:ext>
            </a:extLst>
          </p:cNvPr>
          <p:cNvSpPr txBox="1"/>
          <p:nvPr/>
        </p:nvSpPr>
        <p:spPr>
          <a:xfrm>
            <a:off x="218342" y="23946"/>
            <a:ext cx="9853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30A227E-CA99-419E-BAE4-D43CB4106847}"/>
              </a:ext>
            </a:extLst>
          </p:cNvPr>
          <p:cNvSpPr txBox="1">
            <a:spLocks/>
          </p:cNvSpPr>
          <p:nvPr/>
        </p:nvSpPr>
        <p:spPr>
          <a:xfrm>
            <a:off x="96253" y="779726"/>
            <a:ext cx="3220278" cy="11206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F7AA9-1CFB-2E5A-F596-F16CF4454931}"/>
              </a:ext>
            </a:extLst>
          </p:cNvPr>
          <p:cNvSpPr txBox="1"/>
          <p:nvPr/>
        </p:nvSpPr>
        <p:spPr>
          <a:xfrm>
            <a:off x="508172" y="6553769"/>
            <a:ext cx="99930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Citations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7CDF88-121F-F9E4-72A3-E5A341942838}"/>
              </a:ext>
            </a:extLst>
          </p:cNvPr>
          <p:cNvSpPr/>
          <p:nvPr/>
        </p:nvSpPr>
        <p:spPr>
          <a:xfrm>
            <a:off x="5504714" y="956516"/>
            <a:ext cx="4303809" cy="1223746"/>
          </a:xfrm>
          <a:prstGeom prst="roundRect">
            <a:avLst/>
          </a:prstGeom>
          <a:solidFill>
            <a:srgbClr val="821B0A"/>
          </a:solidFill>
          <a:ln>
            <a:solidFill>
              <a:srgbClr val="821B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Primary Box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70663B-1A31-FDCD-CC4C-C1525F0B7D56}"/>
              </a:ext>
            </a:extLst>
          </p:cNvPr>
          <p:cNvSpPr/>
          <p:nvPr/>
        </p:nvSpPr>
        <p:spPr>
          <a:xfrm>
            <a:off x="5504714" y="4281538"/>
            <a:ext cx="4303809" cy="12237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Open Sans Semibold"/>
                <a:cs typeface="Arial" panose="020B0604020202020204" pitchFamily="34" charset="0"/>
              </a:rPr>
              <a:t>Tertiary Box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E85EAB-1A0B-CA6E-7786-93A7AC7AB111}"/>
              </a:ext>
            </a:extLst>
          </p:cNvPr>
          <p:cNvSpPr/>
          <p:nvPr/>
        </p:nvSpPr>
        <p:spPr>
          <a:xfrm>
            <a:off x="5504714" y="2616874"/>
            <a:ext cx="4303809" cy="122374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Open Sans Semibold"/>
                <a:cs typeface="Arial" panose="020B0604020202020204" pitchFamily="34" charset="0"/>
              </a:rPr>
              <a:t>Secondary Box</a:t>
            </a:r>
          </a:p>
        </p:txBody>
      </p:sp>
    </p:spTree>
    <p:extLst>
      <p:ext uri="{BB962C8B-B14F-4D97-AF65-F5344CB8AC3E}">
        <p14:creationId xmlns:p14="http://schemas.microsoft.com/office/powerpoint/2010/main" val="336905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393</Words>
  <Application>Microsoft Office PowerPoint</Application>
  <PresentationFormat>Widescreen</PresentationFormat>
  <Paragraphs>97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Oklahoma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Moore</dc:creator>
  <cp:lastModifiedBy>Moore, Andrew J.</cp:lastModifiedBy>
  <cp:revision>512</cp:revision>
  <dcterms:created xsi:type="dcterms:W3CDTF">2026-08-19T18:09:12Z</dcterms:created>
  <dcterms:modified xsi:type="dcterms:W3CDTF">2026-10-28T21:21:59Z</dcterms:modified>
</cp:coreProperties>
</file>